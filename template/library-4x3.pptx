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.xml" ContentType="application/vnd.openxmlformats-officedocument.presentationml.notesSlide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notesSlides/notesSlide3.xml" ContentType="application/vnd.openxmlformats-officedocument.presentationml.notesSlide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charts/chart1.xml" ContentType="application/vnd.openxmlformats-officedocument.drawingml.chart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slides/slide108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102"/>
  </p:notesMasterIdLst>
  <p:handoutMasterIdLst>
    <p:handoutMasterId r:id="rId103"/>
  </p:handoutMasterIdLst>
  <p:sldIdLst>
    <p:sldId id="256" r:id="rId2"/>
    <p:sldId id="276" r:id="rId3"/>
    <p:sldId id="277" r:id="rId4"/>
    <p:sldId id="356" r:id="rId5"/>
    <p:sldId id="361" r:id="rId6"/>
    <p:sldId id="362" r:id="rId7"/>
    <p:sldId id="363" r:id="rId8"/>
    <p:sldId id="275" r:id="rId9"/>
    <p:sldId id="259" r:id="rId10"/>
    <p:sldId id="279" r:id="rId11"/>
    <p:sldId id="357" r:id="rId12"/>
    <p:sldId id="358" r:id="rId13"/>
    <p:sldId id="359" r:id="rId14"/>
    <p:sldId id="306" r:id="rId15"/>
    <p:sldId id="304" r:id="rId16"/>
    <p:sldId id="305" r:id="rId17"/>
    <p:sldId id="314" r:id="rId18"/>
    <p:sldId id="315" r:id="rId19"/>
    <p:sldId id="310" r:id="rId20"/>
    <p:sldId id="311" r:id="rId21"/>
    <p:sldId id="285" r:id="rId22"/>
    <p:sldId id="286" r:id="rId23"/>
    <p:sldId id="287" r:id="rId24"/>
    <p:sldId id="288" r:id="rId25"/>
    <p:sldId id="294" r:id="rId26"/>
    <p:sldId id="289" r:id="rId27"/>
    <p:sldId id="295" r:id="rId28"/>
    <p:sldId id="296" r:id="rId29"/>
    <p:sldId id="312" r:id="rId30"/>
    <p:sldId id="313" r:id="rId31"/>
    <p:sldId id="317" r:id="rId32"/>
    <p:sldId id="318" r:id="rId33"/>
    <p:sldId id="319" r:id="rId34"/>
    <p:sldId id="320" r:id="rId35"/>
    <p:sldId id="321" r:id="rId36"/>
    <p:sldId id="371" r:id="rId37"/>
    <p:sldId id="367" r:id="rId38"/>
    <p:sldId id="365" r:id="rId39"/>
    <p:sldId id="369" r:id="rId40"/>
    <p:sldId id="366" r:id="rId41"/>
    <p:sldId id="322" r:id="rId42"/>
    <p:sldId id="325" r:id="rId43"/>
    <p:sldId id="323" r:id="rId44"/>
    <p:sldId id="324" r:id="rId45"/>
    <p:sldId id="327" r:id="rId46"/>
    <p:sldId id="328" r:id="rId47"/>
    <p:sldId id="375" r:id="rId109"/>
    <p:sldId id="345" r:id="rId48"/>
    <p:sldId id="346" r:id="rId49"/>
    <p:sldId id="347" r:id="rId50"/>
    <p:sldId id="348" r:id="rId51"/>
    <p:sldId id="349" r:id="rId52"/>
    <p:sldId id="330" r:id="rId53"/>
    <p:sldId id="350" r:id="rId54"/>
    <p:sldId id="351" r:id="rId55"/>
    <p:sldId id="352" r:id="rId56"/>
    <p:sldId id="353" r:id="rId57"/>
    <p:sldId id="354" r:id="rId58"/>
    <p:sldId id="355" r:id="rId59"/>
    <p:sldId id="308" r:id="rId60"/>
    <p:sldId id="307" r:id="rId61"/>
    <p:sldId id="309" r:id="rId62"/>
    <p:sldId id="333" r:id="rId63"/>
    <p:sldId id="332" r:id="rId64"/>
    <p:sldId id="331" r:id="rId65"/>
    <p:sldId id="334" r:id="rId66"/>
    <p:sldId id="335" r:id="rId67"/>
    <p:sldId id="336" r:id="rId68"/>
    <p:sldId id="337" r:id="rId69"/>
    <p:sldId id="338" r:id="rId70"/>
    <p:sldId id="339" r:id="rId71"/>
    <p:sldId id="298" r:id="rId72"/>
    <p:sldId id="316" r:id="rId73"/>
    <p:sldId id="257" r:id="rId74"/>
    <p:sldId id="297" r:id="rId75"/>
    <p:sldId id="301" r:id="rId76"/>
    <p:sldId id="303" r:id="rId77"/>
    <p:sldId id="302" r:id="rId78"/>
    <p:sldId id="340" r:id="rId79"/>
    <p:sldId id="341" r:id="rId80"/>
    <p:sldId id="342" r:id="rId81"/>
    <p:sldId id="343" r:id="rId82"/>
    <p:sldId id="344" r:id="rId83"/>
    <p:sldId id="281" r:id="rId84"/>
    <p:sldId id="274" r:id="rId85"/>
    <p:sldId id="376" r:id="rId110"/>
    <p:sldId id="364" r:id="rId86"/>
    <p:sldId id="372" r:id="rId87"/>
    <p:sldId id="377" r:id="rId111"/>
    <p:sldId id="378" r:id="rId112"/>
    <p:sldId id="280" r:id="rId88"/>
    <p:sldId id="267" r:id="rId89"/>
    <p:sldId id="268" r:id="rId90"/>
    <p:sldId id="269" r:id="rId91"/>
    <p:sldId id="373" r:id="rId92"/>
    <p:sldId id="270" r:id="rId93"/>
    <p:sldId id="271" r:id="rId94"/>
    <p:sldId id="374" r:id="rId95"/>
    <p:sldId id="272" r:id="rId96"/>
    <p:sldId id="273" r:id="rId97"/>
    <p:sldId id="292" r:id="rId98"/>
    <p:sldId id="299" r:id="rId99"/>
    <p:sldId id="300" r:id="rId100"/>
    <p:sldId id="360" r:id="rId101"/>
    <p:sldId id="379" r:id="rId113"/>
    <p:sldId id="380" r:id="rId114"/>
    <p:sldId id="381" r:id="rId115"/>
    <p:sldId id="382" r:id="rId116"/>
  </p:sldIdLst>
  <p:sldSz cx="9144000" cy="6858000" type="screen4x3"/>
  <p:notesSz cx="6797675" cy="9982200"/>
  <p:custDataLst>
    <p:tags r:id="rId10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Ingen typografi, tabelgit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Ingen typografi, intet git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76" autoAdjust="0"/>
    <p:restoredTop sz="94982" autoAdjust="0"/>
  </p:normalViewPr>
  <p:slideViewPr>
    <p:cSldViewPr>
      <p:cViewPr varScale="1">
        <p:scale>
          <a:sx n="56" d="100"/>
          <a:sy n="56" d="100"/>
        </p:scale>
        <p:origin x="2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6408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handoutMaster" Target="handoutMasters/handoutMaster1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gs" Target="tags/tag1.xml"/><Relationship Id="rId109" Type="http://schemas.openxmlformats.org/officeDocument/2006/relationships/slide" Target="slides/slide101.xml"/><Relationship Id="rId110" Type="http://schemas.openxmlformats.org/officeDocument/2006/relationships/slide" Target="slides/slide102.xml"/><Relationship Id="rId111" Type="http://schemas.openxmlformats.org/officeDocument/2006/relationships/slide" Target="slides/slide103.xml"/><Relationship Id="rId112" Type="http://schemas.openxmlformats.org/officeDocument/2006/relationships/slide" Target="slides/slide104.xml"/><Relationship Id="rId113" Type="http://schemas.openxmlformats.org/officeDocument/2006/relationships/slide" Target="slides/slide105.xml"/><Relationship Id="rId114" Type="http://schemas.openxmlformats.org/officeDocument/2006/relationships/slide" Target="slides/slide106.xml"/><Relationship Id="rId115" Type="http://schemas.openxmlformats.org/officeDocument/2006/relationships/slide" Target="slides/slide107.xml"/><Relationship Id="rId116" Type="http://schemas.openxmlformats.org/officeDocument/2006/relationships/slide" Target="slides/slide108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image" Target="../media/image3.emf"/></Relationships>
</file>

<file path=ppt/drawings/_rels/vmlDrawing38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image" Target="../media/image3.emf"/><Relationship Id="rId4" Type="http://schemas.openxmlformats.org/officeDocument/2006/relationships/image" Target="../media/image12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0.v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image" Target="../media/image3.emf"/></Relationships>
</file>

<file path=ppt/drawings/_rels/vmlDrawing4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image" Target="../media/image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8D360-E52E-4493-859D-EF89CF36CBAE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3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20362D-7A7C-44F0-8D8E-90C264731DF9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73484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A8DB35-6D81-4539-B54D-0729C63FB223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dias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06463" y="749300"/>
            <a:ext cx="4986337" cy="37417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244" y="4741585"/>
            <a:ext cx="5437188" cy="449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diasnummer 6"/>
          <p:cNvSpPr>
            <a:spLocks noGrp="1"/>
          </p:cNvSpPr>
          <p:nvPr>
            <p:ph type="sldNum" sz="quarter" idx="5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923E5-7B97-4806-80E5-629DA1B6583D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8955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546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880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3722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5724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53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97484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9537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2749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363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7525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0530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84712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64194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Gode regler for flowcharts</a:t>
            </a:r>
          </a:p>
          <a:p>
            <a:r>
              <a:rPr lang="da-DK"/>
              <a:t>Start og slut altid med en begivenhed (start/stop)</a:t>
            </a:r>
          </a:p>
          <a:p>
            <a:r>
              <a:rPr lang="da-DK"/>
              <a:t>Brug ”connectors” til at binde kasser og streger sammen</a:t>
            </a:r>
          </a:p>
          <a:p>
            <a:r>
              <a:rPr lang="da-DK"/>
              <a:t>Processer skal kun have en udgående streg</a:t>
            </a:r>
          </a:p>
          <a:p>
            <a:r>
              <a:rPr lang="da-DK"/>
              <a:t>Retningen skal være venstre-&gt;højre eller top-&gt;bund</a:t>
            </a:r>
          </a:p>
          <a:p>
            <a:r>
              <a:rPr lang="da-DK"/>
              <a:t>Overvej kraftigt at bruge Visio hvis det skal være mere avanceret eller hvis der er behov for swim-lanes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s SSF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19672" y="1665289"/>
            <a:ext cx="5976663" cy="1292225"/>
          </a:xfrm>
        </p:spPr>
        <p:txBody>
          <a:bodyPr>
            <a:norm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619673" y="3262314"/>
            <a:ext cx="5976662" cy="1108075"/>
          </a:xfrm>
        </p:spPr>
        <p:txBody>
          <a:bodyPr>
            <a:normAutofit/>
          </a:bodyPr>
          <a:lstStyle>
            <a:lvl1pPr marL="0" indent="0">
              <a:buFontTx/>
              <a:buNone/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9" name="Rektangel 8"/>
          <p:cNvSpPr/>
          <p:nvPr/>
        </p:nvSpPr>
        <p:spPr bwMode="auto">
          <a:xfrm>
            <a:off x="0" y="6669360"/>
            <a:ext cx="9144000" cy="19876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050" b="0" i="0" u="none" strike="noStrike" cap="none" normalizeH="0" baseline="0" dirty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Verdana" pitchFamily="34" charset="0"/>
              </a:rPr>
              <a:t>StruktureretSundFornuft.dk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16083233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noProof="0" smtClean="0"/>
              <a:t>Klik for at redigere i master</a:t>
            </a:r>
          </a:p>
          <a:p>
            <a:pPr lvl="1"/>
            <a:r>
              <a:rPr lang="da-DK" noProof="0" smtClean="0"/>
              <a:t>Andet niveau</a:t>
            </a:r>
          </a:p>
          <a:p>
            <a:pPr lvl="2"/>
            <a:r>
              <a:rPr lang="da-DK" noProof="0" smtClean="0"/>
              <a:t>Tredje niveau</a:t>
            </a:r>
          </a:p>
          <a:p>
            <a:pPr lvl="3"/>
            <a:r>
              <a:rPr lang="da-DK" noProof="0" smtClean="0"/>
              <a:t>Fjerde niveau</a:t>
            </a:r>
          </a:p>
          <a:p>
            <a:pPr lvl="4"/>
            <a:r>
              <a:rPr lang="da-DK" noProof="0" smtClean="0"/>
              <a:t>Femte niveau</a:t>
            </a:r>
            <a:endParaRPr lang="da-DK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939770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un titel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91563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76800" y="6674401"/>
            <a:ext cx="2133600" cy="13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5000"/>
              </a:lnSpc>
              <a:defRPr sz="800"/>
            </a:lvl1pPr>
          </a:lstStyle>
          <a:p>
            <a:fld id="{07332735-7A3E-4A8B-8C8A-3D53BB481DD8}" type="slidenum">
              <a:rPr lang="da-DK" smtClean="0"/>
              <a:pPr/>
              <a:t>‹nr.›</a:t>
            </a:fld>
            <a:endParaRPr lang="da-DK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137" y="536575"/>
            <a:ext cx="7700963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smtClean="0"/>
              <a:t>Klik for at redigere titeltypografi i masteren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9137" y="1655763"/>
            <a:ext cx="7700963" cy="393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 dirty="0" smtClean="0"/>
          </a:p>
        </p:txBody>
      </p:sp>
    </p:spTree>
    <p:extLst>
      <p:ext uri="{BB962C8B-B14F-4D97-AF65-F5344CB8AC3E}">
        <p14:creationId xmlns:p14="http://schemas.microsoft.com/office/powerpoint/2010/main" val="2634132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lvl1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5pPr>
      <a:lvl6pPr marL="457189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6pPr>
      <a:lvl7pPr marL="914378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7pPr>
      <a:lvl8pPr marL="1371566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8pPr>
      <a:lvl9pPr marL="1828754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9pPr>
    </p:titleStyle>
    <p:bodyStyle>
      <a:lvl1pPr marL="268281" indent="-268281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1pPr>
      <a:lvl2pPr marL="552437" indent="-282568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2pPr>
      <a:lvl3pPr marL="831830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3pPr>
      <a:lvl4pPr marL="1111223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4pPr>
      <a:lvl5pPr marL="1384265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5pPr>
      <a:lvl6pPr marL="1841454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6pPr>
      <a:lvl7pPr marL="2298643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7pPr>
      <a:lvl8pPr marL="2755831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8pPr>
      <a:lvl9pPr marL="3213020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4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5.bin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7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8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0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1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2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3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4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5.bin"/><Relationship Id="rId4" Type="http://schemas.openxmlformats.org/officeDocument/2006/relationships/notesSlide" Target="../notesSlides/notesSlid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6.bin"/><Relationship Id="rId4" Type="http://schemas.openxmlformats.org/officeDocument/2006/relationships/notesSlide" Target="../notesSlides/notesSlide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7.bin"/><Relationship Id="rId4" Type="http://schemas.openxmlformats.org/officeDocument/2006/relationships/notesSlide" Target="../notesSlides/notesSlide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8.bin"/><Relationship Id="rId4" Type="http://schemas.openxmlformats.org/officeDocument/2006/relationships/notesSlide" Target="../notesSlides/notesSlide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9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0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1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2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3.bin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4.bin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5.bin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6.bin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7.bin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8.bin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9.bin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0.bin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1.bin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3.xml"/><Relationship Id="rId1" Type="http://schemas.openxmlformats.org/officeDocument/2006/relationships/vmlDrawing" Target="../drawings/vmlDrawing3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2.bin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vmlDrawing" Target="../drawings/vmlDrawing3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3.bin"/><Relationship Id="rId4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vmlDrawing" Target="../drawings/vmlDrawing3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4.bin"/><Relationship Id="rId4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vmlDrawing" Target="../drawings/vmlDrawing35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5.bin"/><Relationship Id="rId4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vmlDrawing" Target="../drawings/vmlDrawing36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6.bin"/><Relationship Id="rId4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tags" Target="../tags/tag48.xml"/><Relationship Id="rId13" Type="http://schemas.openxmlformats.org/officeDocument/2006/relationships/tags" Target="../tags/tag53.xml"/><Relationship Id="rId18" Type="http://schemas.openxmlformats.org/officeDocument/2006/relationships/tags" Target="../tags/tag58.xml"/><Relationship Id="rId26" Type="http://schemas.openxmlformats.org/officeDocument/2006/relationships/image" Target="../media/image9.emf"/><Relationship Id="rId3" Type="http://schemas.openxmlformats.org/officeDocument/2006/relationships/tags" Target="../tags/tag43.xml"/><Relationship Id="rId21" Type="http://schemas.openxmlformats.org/officeDocument/2006/relationships/oleObject" Target="../embeddings/oleObject37.bin"/><Relationship Id="rId7" Type="http://schemas.openxmlformats.org/officeDocument/2006/relationships/tags" Target="../tags/tag47.xml"/><Relationship Id="rId12" Type="http://schemas.openxmlformats.org/officeDocument/2006/relationships/tags" Target="../tags/tag52.xml"/><Relationship Id="rId17" Type="http://schemas.openxmlformats.org/officeDocument/2006/relationships/tags" Target="../tags/tag57.xml"/><Relationship Id="rId25" Type="http://schemas.openxmlformats.org/officeDocument/2006/relationships/oleObject" Target="../embeddings/oleObject39.bin"/><Relationship Id="rId2" Type="http://schemas.openxmlformats.org/officeDocument/2006/relationships/tags" Target="../tags/tag42.xml"/><Relationship Id="rId16" Type="http://schemas.openxmlformats.org/officeDocument/2006/relationships/tags" Target="../tags/tag56.xml"/><Relationship Id="rId20" Type="http://schemas.openxmlformats.org/officeDocument/2006/relationships/slideLayout" Target="../slideLayouts/slideLayout2.xml"/><Relationship Id="rId1" Type="http://schemas.openxmlformats.org/officeDocument/2006/relationships/vmlDrawing" Target="../drawings/vmlDrawing37.vml"/><Relationship Id="rId6" Type="http://schemas.openxmlformats.org/officeDocument/2006/relationships/tags" Target="../tags/tag46.xml"/><Relationship Id="rId11" Type="http://schemas.openxmlformats.org/officeDocument/2006/relationships/tags" Target="../tags/tag51.xml"/><Relationship Id="rId24" Type="http://schemas.openxmlformats.org/officeDocument/2006/relationships/image" Target="../media/image8.emf"/><Relationship Id="rId5" Type="http://schemas.openxmlformats.org/officeDocument/2006/relationships/tags" Target="../tags/tag45.xml"/><Relationship Id="rId15" Type="http://schemas.openxmlformats.org/officeDocument/2006/relationships/tags" Target="../tags/tag55.xml"/><Relationship Id="rId23" Type="http://schemas.openxmlformats.org/officeDocument/2006/relationships/oleObject" Target="../embeddings/oleObject38.bin"/><Relationship Id="rId10" Type="http://schemas.openxmlformats.org/officeDocument/2006/relationships/tags" Target="../tags/tag50.xml"/><Relationship Id="rId19" Type="http://schemas.openxmlformats.org/officeDocument/2006/relationships/tags" Target="../tags/tag59.xml"/><Relationship Id="rId4" Type="http://schemas.openxmlformats.org/officeDocument/2006/relationships/tags" Target="../tags/tag44.xml"/><Relationship Id="rId9" Type="http://schemas.openxmlformats.org/officeDocument/2006/relationships/tags" Target="../tags/tag49.xml"/><Relationship Id="rId14" Type="http://schemas.openxmlformats.org/officeDocument/2006/relationships/tags" Target="../tags/tag54.xml"/><Relationship Id="rId22" Type="http://schemas.openxmlformats.org/officeDocument/2006/relationships/image" Target="../media/image3.emf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13" Type="http://schemas.openxmlformats.org/officeDocument/2006/relationships/tags" Target="../tags/tag71.xml"/><Relationship Id="rId18" Type="http://schemas.openxmlformats.org/officeDocument/2006/relationships/tags" Target="../tags/tag76.xml"/><Relationship Id="rId26" Type="http://schemas.openxmlformats.org/officeDocument/2006/relationships/tags" Target="../tags/tag84.xml"/><Relationship Id="rId3" Type="http://schemas.openxmlformats.org/officeDocument/2006/relationships/tags" Target="../tags/tag61.xml"/><Relationship Id="rId21" Type="http://schemas.openxmlformats.org/officeDocument/2006/relationships/tags" Target="../tags/tag79.xml"/><Relationship Id="rId34" Type="http://schemas.openxmlformats.org/officeDocument/2006/relationships/image" Target="../media/image11.emf"/><Relationship Id="rId7" Type="http://schemas.openxmlformats.org/officeDocument/2006/relationships/tags" Target="../tags/tag65.xml"/><Relationship Id="rId12" Type="http://schemas.openxmlformats.org/officeDocument/2006/relationships/tags" Target="../tags/tag70.xml"/><Relationship Id="rId17" Type="http://schemas.openxmlformats.org/officeDocument/2006/relationships/tags" Target="../tags/tag75.xml"/><Relationship Id="rId25" Type="http://schemas.openxmlformats.org/officeDocument/2006/relationships/tags" Target="../tags/tag83.xml"/><Relationship Id="rId33" Type="http://schemas.openxmlformats.org/officeDocument/2006/relationships/oleObject" Target="../embeddings/oleObject42.bin"/><Relationship Id="rId2" Type="http://schemas.openxmlformats.org/officeDocument/2006/relationships/tags" Target="../tags/tag60.xml"/><Relationship Id="rId16" Type="http://schemas.openxmlformats.org/officeDocument/2006/relationships/tags" Target="../tags/tag74.xml"/><Relationship Id="rId20" Type="http://schemas.openxmlformats.org/officeDocument/2006/relationships/tags" Target="../tags/tag78.xml"/><Relationship Id="rId29" Type="http://schemas.openxmlformats.org/officeDocument/2006/relationships/oleObject" Target="../embeddings/oleObject40.bin"/><Relationship Id="rId1" Type="http://schemas.openxmlformats.org/officeDocument/2006/relationships/vmlDrawing" Target="../drawings/vmlDrawing38.vml"/><Relationship Id="rId6" Type="http://schemas.openxmlformats.org/officeDocument/2006/relationships/tags" Target="../tags/tag64.xml"/><Relationship Id="rId11" Type="http://schemas.openxmlformats.org/officeDocument/2006/relationships/tags" Target="../tags/tag69.xml"/><Relationship Id="rId24" Type="http://schemas.openxmlformats.org/officeDocument/2006/relationships/tags" Target="../tags/tag82.xml"/><Relationship Id="rId32" Type="http://schemas.openxmlformats.org/officeDocument/2006/relationships/image" Target="../media/image10.emf"/><Relationship Id="rId5" Type="http://schemas.openxmlformats.org/officeDocument/2006/relationships/tags" Target="../tags/tag63.xml"/><Relationship Id="rId15" Type="http://schemas.openxmlformats.org/officeDocument/2006/relationships/tags" Target="../tags/tag73.xml"/><Relationship Id="rId23" Type="http://schemas.openxmlformats.org/officeDocument/2006/relationships/tags" Target="../tags/tag81.xml"/><Relationship Id="rId28" Type="http://schemas.openxmlformats.org/officeDocument/2006/relationships/slideLayout" Target="../slideLayouts/slideLayout2.xml"/><Relationship Id="rId36" Type="http://schemas.openxmlformats.org/officeDocument/2006/relationships/image" Target="../media/image12.emf"/><Relationship Id="rId10" Type="http://schemas.openxmlformats.org/officeDocument/2006/relationships/tags" Target="../tags/tag68.xml"/><Relationship Id="rId19" Type="http://schemas.openxmlformats.org/officeDocument/2006/relationships/tags" Target="../tags/tag77.xml"/><Relationship Id="rId31" Type="http://schemas.openxmlformats.org/officeDocument/2006/relationships/oleObject" Target="../embeddings/oleObject41.bin"/><Relationship Id="rId4" Type="http://schemas.openxmlformats.org/officeDocument/2006/relationships/tags" Target="../tags/tag62.xml"/><Relationship Id="rId9" Type="http://schemas.openxmlformats.org/officeDocument/2006/relationships/tags" Target="../tags/tag67.xml"/><Relationship Id="rId14" Type="http://schemas.openxmlformats.org/officeDocument/2006/relationships/tags" Target="../tags/tag72.xml"/><Relationship Id="rId22" Type="http://schemas.openxmlformats.org/officeDocument/2006/relationships/tags" Target="../tags/tag80.xml"/><Relationship Id="rId27" Type="http://schemas.openxmlformats.org/officeDocument/2006/relationships/tags" Target="../tags/tag85.xml"/><Relationship Id="rId30" Type="http://schemas.openxmlformats.org/officeDocument/2006/relationships/image" Target="../media/image3.emf"/><Relationship Id="rId35" Type="http://schemas.openxmlformats.org/officeDocument/2006/relationships/oleObject" Target="../embeddings/oleObject43.bin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vmlDrawing" Target="../drawings/vmlDrawing39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44.bin"/><Relationship Id="rId4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13" Type="http://schemas.openxmlformats.org/officeDocument/2006/relationships/oleObject" Target="../embeddings/oleObject45.bin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88.xml"/><Relationship Id="rId16" Type="http://schemas.openxmlformats.org/officeDocument/2006/relationships/image" Target="../media/image13.emf"/><Relationship Id="rId1" Type="http://schemas.openxmlformats.org/officeDocument/2006/relationships/vmlDrawing" Target="../drawings/vmlDrawing40.v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5" Type="http://schemas.openxmlformats.org/officeDocument/2006/relationships/oleObject" Target="../embeddings/oleObject46.bin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Relationship Id="rId14" Type="http://schemas.openxmlformats.org/officeDocument/2006/relationships/image" Target="../media/image3.emf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oleObject" Target="../embeddings/oleObject47.bin"/><Relationship Id="rId3" Type="http://schemas.openxmlformats.org/officeDocument/2006/relationships/tags" Target="../tags/tag99.xml"/><Relationship Id="rId7" Type="http://schemas.openxmlformats.org/officeDocument/2006/relationships/tags" Target="../tags/tag10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98.xml"/><Relationship Id="rId16" Type="http://schemas.openxmlformats.org/officeDocument/2006/relationships/image" Target="../media/image14.emf"/><Relationship Id="rId1" Type="http://schemas.openxmlformats.org/officeDocument/2006/relationships/vmlDrawing" Target="../drawings/vmlDrawing41.vml"/><Relationship Id="rId6" Type="http://schemas.openxmlformats.org/officeDocument/2006/relationships/tags" Target="../tags/tag102.xml"/><Relationship Id="rId11" Type="http://schemas.openxmlformats.org/officeDocument/2006/relationships/tags" Target="../tags/tag107.xml"/><Relationship Id="rId5" Type="http://schemas.openxmlformats.org/officeDocument/2006/relationships/tags" Target="../tags/tag101.xml"/><Relationship Id="rId15" Type="http://schemas.openxmlformats.org/officeDocument/2006/relationships/oleObject" Target="../embeddings/oleObject48.bin"/><Relationship Id="rId10" Type="http://schemas.openxmlformats.org/officeDocument/2006/relationships/tags" Target="../tags/tag106.xml"/><Relationship Id="rId4" Type="http://schemas.openxmlformats.org/officeDocument/2006/relationships/tags" Target="../tags/tag100.xml"/><Relationship Id="rId9" Type="http://schemas.openxmlformats.org/officeDocument/2006/relationships/tags" Target="../tags/tag105.xml"/><Relationship Id="rId14" Type="http://schemas.openxmlformats.org/officeDocument/2006/relationships/image" Target="../media/image3.emf"/></Relationships>
</file>

<file path=ppt/slides/_rels/slide9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tags" Target="../tags/tag113.xml"/><Relationship Id="rId7" Type="http://schemas.openxmlformats.org/officeDocument/2006/relationships/slideLayout" Target="../slideLayouts/slideLayout3.xml"/><Relationship Id="rId8" Type="http://schemas.openxmlformats.org/officeDocument/2006/relationships/tags" Target="../tags/tag114.xml"/><Relationship Id="rId9" Type="http://schemas.openxmlformats.org/officeDocument/2006/relationships/tags" Target="../tags/tag115.xml"/><Relationship Id="rId10" Type="http://schemas.openxmlformats.org/officeDocument/2006/relationships/tags" Target="../tags/tag116.xml"/><Relationship Id="rId11" Type="http://schemas.openxmlformats.org/officeDocument/2006/relationships/tags" Target="../tags/tag117.xml"/><Relationship Id="rId12" Type="http://schemas.openxmlformats.org/officeDocument/2006/relationships/tags" Target="../tags/tag118.xml"/><Relationship Id="rId13" Type="http://schemas.openxmlformats.org/officeDocument/2006/relationships/tags" Target="../tags/tag119.xml"/><Relationship Id="rId14" Type="http://schemas.openxmlformats.org/officeDocument/2006/relationships/tags" Target="../tags/tag120.xml"/><Relationship Id="rId15" Type="http://schemas.openxmlformats.org/officeDocument/2006/relationships/tags" Target="../tags/tag121.xml"/><Relationship Id="rId16" Type="http://schemas.openxmlformats.org/officeDocument/2006/relationships/tags" Target="../tags/tag122.xml"/><Relationship Id="rId17" Type="http://schemas.openxmlformats.org/officeDocument/2006/relationships/tags" Target="../tags/tag123.xml"/><Relationship Id="rId18" Type="http://schemas.openxmlformats.org/officeDocument/2006/relationships/tags" Target="../tags/tag124.xml"/><Relationship Id="rId19" Type="http://schemas.openxmlformats.org/officeDocument/2006/relationships/tags" Target="../tags/tag125.xml"/><Relationship Id="rId20" Type="http://schemas.openxmlformats.org/officeDocument/2006/relationships/tags" Target="../tags/tag126.xml"/><Relationship Id="rId21" Type="http://schemas.openxmlformats.org/officeDocument/2006/relationships/tags" Target="../tags/tag127.xml"/><Relationship Id="rId22" Type="http://schemas.openxmlformats.org/officeDocument/2006/relationships/tags" Target="../tags/tag128.xml"/><Relationship Id="rId23" Type="http://schemas.openxmlformats.org/officeDocument/2006/relationships/tags" Target="../tags/tag129.xml"/><Relationship Id="rId24" Type="http://schemas.openxmlformats.org/officeDocument/2006/relationships/tags" Target="../tags/tag130.xml"/><Relationship Id="rId25" Type="http://schemas.openxmlformats.org/officeDocument/2006/relationships/tags" Target="../tags/tag131.xml"/><Relationship Id="rId26" Type="http://schemas.openxmlformats.org/officeDocument/2006/relationships/tags" Target="../tags/tag132.xml"/><Relationship Id="rId27" Type="http://schemas.openxmlformats.org/officeDocument/2006/relationships/tags" Target="../tags/tag133.xml"/><Relationship Id="rId28" Type="http://schemas.openxmlformats.org/officeDocument/2006/relationships/tags" Target="../tags/tag134.xml"/><Relationship Id="rId29" Type="http://schemas.openxmlformats.org/officeDocument/2006/relationships/tags" Target="../tags/tag135.xml"/><Relationship Id="rId30" Type="http://schemas.openxmlformats.org/officeDocument/2006/relationships/tags" Target="../tags/tag136.xml"/><Relationship Id="rId31" Type="http://schemas.openxmlformats.org/officeDocument/2006/relationships/tags" Target="../tags/tag137.xml"/><Relationship Id="rId32" Type="http://schemas.openxmlformats.org/officeDocument/2006/relationships/tags" Target="../tags/tag138.xml"/><Relationship Id="rId33" Type="http://schemas.openxmlformats.org/officeDocument/2006/relationships/tags" Target="../tags/tag139.xml"/><Relationship Id="rId34" Type="http://schemas.openxmlformats.org/officeDocument/2006/relationships/tags" Target="../tags/tag140.xml"/><Relationship Id="rId35" Type="http://schemas.openxmlformats.org/officeDocument/2006/relationships/tags" Target="../tags/tag141.xml"/><Relationship Id="rId36" Type="http://schemas.openxmlformats.org/officeDocument/2006/relationships/chart" Target="../charts/chart1.xml"/><Relationship Id="rId37" Type="http://schemas.openxmlformats.org/officeDocument/2006/relationships/tags" Target="../tags/tag142.xml"/><Relationship Id="rId38" Type="http://schemas.openxmlformats.org/officeDocument/2006/relationships/tags" Target="../tags/tag143.xml"/><Relationship Id="rId39" Type="http://schemas.openxmlformats.org/officeDocument/2006/relationships/tags" Target="../tags/tag144.xml"/><Relationship Id="rId40" Type="http://schemas.openxmlformats.org/officeDocument/2006/relationships/tags" Target="../tags/tag145.xml"/><Relationship Id="rId41" Type="http://schemas.openxmlformats.org/officeDocument/2006/relationships/tags" Target="../tags/tag146.xml"/><Relationship Id="rId42" Type="http://schemas.openxmlformats.org/officeDocument/2006/relationships/tags" Target="../tags/tag147.xml"/><Relationship Id="rId43" Type="http://schemas.openxmlformats.org/officeDocument/2006/relationships/tags" Target="../tags/tag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Hvide kasser</a:t>
            </a:r>
            <a:endParaRPr lang="da-DK" dirty="0"/>
          </a:p>
        </p:txBody>
      </p:sp>
      <p:sp>
        <p:nvSpPr>
          <p:cNvPr id="5" name="Undertitel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9135" y="6710642"/>
            <a:ext cx="2133600" cy="139700"/>
          </a:xfrm>
        </p:spPr>
        <p:txBody>
          <a:bodyPr/>
          <a:lstStyle/>
          <a:p>
            <a:fld id="{A9ABB7CC-1652-4545-8F10-899A40A8313E}" type="slidenum">
              <a:rPr lang="da-DK" noProof="0" smtClean="0"/>
              <a:pPr/>
              <a:t>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 med checkliste på 4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ud for de enkelte flueben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eventuel et eller flere flueben (det er en tekst der skal slettes)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7" name="Gruppe 5"/>
          <p:cNvGrpSpPr/>
          <p:nvPr/>
        </p:nvGrpSpPr>
        <p:grpSpPr>
          <a:xfrm>
            <a:off x="957732" y="2264088"/>
            <a:ext cx="7271868" cy="660856"/>
            <a:chOff x="957732" y="2204126"/>
            <a:chExt cx="7271868" cy="660856"/>
          </a:xfrm>
        </p:grpSpPr>
        <p:sp>
          <p:nvSpPr>
            <p:cNvPr id="36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3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 smtClean="0">
                  <a:solidFill>
                    <a:srgbClr val="000000"/>
                  </a:solidFill>
                </a:rPr>
                <a:t>[ Text, up to two lines long ]</a:t>
              </a:r>
              <a:endParaRPr lang="da-DK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9" name="Gruppe 53"/>
          <p:cNvGrpSpPr/>
          <p:nvPr/>
        </p:nvGrpSpPr>
        <p:grpSpPr>
          <a:xfrm>
            <a:off x="957732" y="3204453"/>
            <a:ext cx="7271868" cy="660856"/>
            <a:chOff x="957732" y="2204126"/>
            <a:chExt cx="7271868" cy="660856"/>
          </a:xfrm>
        </p:grpSpPr>
        <p:sp>
          <p:nvSpPr>
            <p:cNvPr id="55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6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0" name="Gruppe 56"/>
          <p:cNvGrpSpPr/>
          <p:nvPr/>
        </p:nvGrpSpPr>
        <p:grpSpPr>
          <a:xfrm>
            <a:off x="957732" y="4144818"/>
            <a:ext cx="7271868" cy="660856"/>
            <a:chOff x="957732" y="2204126"/>
            <a:chExt cx="7271868" cy="660856"/>
          </a:xfrm>
        </p:grpSpPr>
        <p:sp>
          <p:nvSpPr>
            <p:cNvPr id="58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9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3" name="Gruppe 59"/>
          <p:cNvGrpSpPr/>
          <p:nvPr/>
        </p:nvGrpSpPr>
        <p:grpSpPr>
          <a:xfrm>
            <a:off x="957732" y="5085184"/>
            <a:ext cx="7271868" cy="660856"/>
            <a:chOff x="957732" y="2204126"/>
            <a:chExt cx="7271868" cy="660856"/>
          </a:xfrm>
        </p:grpSpPr>
        <p:sp>
          <p:nvSpPr>
            <p:cNvPr id="61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62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777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 uden skygge til citater, 1 stor med tre citater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smtClean="0">
                <a:solidFill>
                  <a:srgbClr val="000000"/>
                </a:solidFill>
              </a:rPr>
              <a:pPr/>
              <a:t>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5" name="Rektangel 4"/>
          <p:cNvSpPr/>
          <p:nvPr/>
        </p:nvSpPr>
        <p:spPr bwMode="auto">
          <a:xfrm>
            <a:off x="755576" y="1700808"/>
            <a:ext cx="7704856" cy="43204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smtClean="0"/>
          </a:p>
        </p:txBody>
      </p:sp>
      <p:sp>
        <p:nvSpPr>
          <p:cNvPr id="12" name="Tekstboks 11"/>
          <p:cNvSpPr txBox="1"/>
          <p:nvPr/>
        </p:nvSpPr>
        <p:spPr>
          <a:xfrm>
            <a:off x="827584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>
                <a:solidFill>
                  <a:srgbClr val="000000"/>
                </a:solidFill>
              </a:rPr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overskriften for siden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taleboblerne med passende korte citater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kasserne med de længere citater og kilder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Hvis ikke notes feltet i bunden skal det slettes. Brug eventuelt dette felt til kilde oplysninger</a:t>
                </a: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>
                  <a:buFontTx/>
                  <a:buAutoNum type="arabicParenR"/>
                </a:pPr>
                <a:endParaRPr lang="da-DK" sz="1600" dirty="0" smtClean="0">
                  <a:solidFill>
                    <a:srgbClr val="000000"/>
                  </a:solidFill>
                </a:endParaRPr>
              </a:p>
              <a:p>
                <a:pPr marL="457200" indent="-457200"/>
                <a:endParaRPr lang="da-DK" sz="1600" dirty="0" smtClean="0">
                  <a:solidFill>
                    <a:srgbClr val="000000"/>
                  </a:solidFill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da-DK" b="1" dirty="0" smtClean="0">
                    <a:solidFill>
                      <a:srgbClr val="FFFFFF"/>
                    </a:solidFill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da-DK" b="1" dirty="0" smtClean="0">
                  <a:solidFill>
                    <a:srgbClr val="FFFFFF"/>
                  </a:solidFill>
                </a:rPr>
                <a:t>Slet vejledning ved brug</a:t>
              </a:r>
            </a:p>
          </p:txBody>
        </p:sp>
      </p:grpSp>
      <p:pic>
        <p:nvPicPr>
          <p:cNvPr id="22" name="Billede 21" descr="Billede1.pn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rcRect l="41986" t="26335" r="40838" b="60497"/>
          <a:stretch>
            <a:fillRect/>
          </a:stretch>
        </p:blipFill>
        <p:spPr>
          <a:xfrm>
            <a:off x="539552" y="1484784"/>
            <a:ext cx="648072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pic>
        <p:nvPicPr>
          <p:cNvPr id="23" name="Billede 22" descr="Billede1.png"/>
          <p:cNvPicPr>
            <a:picLocks noChangeAspect="1"/>
          </p:cNvPicPr>
          <p:nvPr/>
        </p:nvPicPr>
        <p:blipFill>
          <a:blip r:embed="rId2" cstate="print"/>
          <a:srcRect l="41986" t="26335" r="42746" b="60497"/>
          <a:stretch>
            <a:fillRect/>
          </a:stretch>
        </p:blipFill>
        <p:spPr>
          <a:xfrm>
            <a:off x="8100392" y="5733256"/>
            <a:ext cx="576064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grpSp>
        <p:nvGrpSpPr>
          <p:cNvPr id="7" name="Gruppe 33"/>
          <p:cNvGrpSpPr/>
          <p:nvPr/>
        </p:nvGrpSpPr>
        <p:grpSpPr>
          <a:xfrm>
            <a:off x="1187624" y="1988840"/>
            <a:ext cx="6984776" cy="1080120"/>
            <a:chOff x="1187624" y="1988840"/>
            <a:chExt cx="6840760" cy="1080120"/>
          </a:xfrm>
        </p:grpSpPr>
        <p:sp>
          <p:nvSpPr>
            <p:cNvPr id="24" name="Afrundet rektangel 23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0" name="Oval billedforklaring 29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 smtClean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3" name="Rektangel 32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" name="Gruppe 34"/>
          <p:cNvGrpSpPr/>
          <p:nvPr/>
        </p:nvGrpSpPr>
        <p:grpSpPr>
          <a:xfrm>
            <a:off x="1187624" y="3284984"/>
            <a:ext cx="6984776" cy="1080120"/>
            <a:chOff x="1187624" y="1988840"/>
            <a:chExt cx="6840760" cy="1080120"/>
          </a:xfrm>
        </p:grpSpPr>
        <p:sp>
          <p:nvSpPr>
            <p:cNvPr id="36" name="Afrundet rektangel 35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7" name="Oval billedforklaring 36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 smtClean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8" name="Rektangel 37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9" name="Gruppe 38"/>
          <p:cNvGrpSpPr/>
          <p:nvPr/>
        </p:nvGrpSpPr>
        <p:grpSpPr>
          <a:xfrm>
            <a:off x="1187624" y="4581128"/>
            <a:ext cx="6984776" cy="1080120"/>
            <a:chOff x="1187624" y="1988840"/>
            <a:chExt cx="6840760" cy="1080120"/>
          </a:xfrm>
        </p:grpSpPr>
        <p:sp>
          <p:nvSpPr>
            <p:cNvPr id="40" name="Afrundet rektangel 39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41" name="Oval billedforklaring 40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 smtClean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Rektangel 41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2x1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66664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32" name="Gruppe 31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0" name="Tekstboks 19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33" name="Gruppe 32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27" name="Rektangel 26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28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0" name="Rektangel 29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1" name="Tekstboks 3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66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1x2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7" name="Gruppe 14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38" name="Rektangel 37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9" name="Lige forbindelse 38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0" name="Rektangel 39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1" name="Rektangel 40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43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49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76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1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8" name="Gruppe 27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29" name="Rektangel 28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0" name="Lige forbindelse 29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30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31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3" name="Tekstboks 32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3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35" name="Rektangel 34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36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3" name="Rektangel 4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6" name="Gruppe 9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Pentagon 2"/>
          <p:cNvSpPr/>
          <p:nvPr/>
        </p:nvSpPr>
        <p:spPr bwMode="auto">
          <a:xfrm>
            <a:off x="755577" y="1556792"/>
            <a:ext cx="4032448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</a:t>
            </a:r>
            <a:r>
              <a:rPr lang="da-DK" dirty="0" smtClean="0"/>
              <a:t>vertikale med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cxnSp>
        <p:nvCxnSpPr>
          <p:cNvPr id="12" name="Lige forbindelse 11"/>
          <p:cNvCxnSpPr/>
          <p:nvPr/>
        </p:nvCxnSpPr>
        <p:spPr bwMode="auto">
          <a:xfrm>
            <a:off x="825565" y="2132856"/>
            <a:ext cx="3569443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25565" y="1556792"/>
            <a:ext cx="3569443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25565" y="2276872"/>
            <a:ext cx="3569443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3" name="Tekstboks 22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Baggrund og anbefaling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</a:t>
            </a:fld>
            <a:endParaRPr lang="da-DK" noProof="0"/>
          </a:p>
        </p:txBody>
      </p:sp>
      <p:grpSp>
        <p:nvGrpSpPr>
          <p:cNvPr id="10" name="Gruppe 14"/>
          <p:cNvGrpSpPr/>
          <p:nvPr/>
        </p:nvGrpSpPr>
        <p:grpSpPr>
          <a:xfrm>
            <a:off x="3203848" y="1556792"/>
            <a:ext cx="5328592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Recommendation [ replace with a telling text ]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</p:txBody>
        </p:sp>
      </p:grpSp>
      <p:grpSp>
        <p:nvGrpSpPr>
          <p:cNvPr id="29" name="Gruppe 28"/>
          <p:cNvGrpSpPr/>
          <p:nvPr/>
        </p:nvGrpSpPr>
        <p:grpSpPr>
          <a:xfrm>
            <a:off x="755577" y="1556792"/>
            <a:ext cx="2448271" cy="4464496"/>
            <a:chOff x="755577" y="1556792"/>
            <a:chExt cx="2448271" cy="4464496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Background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</p:txBody>
        </p:sp>
      </p:grpSp>
      <p:grpSp>
        <p:nvGrpSpPr>
          <p:cNvPr id="2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4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6" name="Rektangel 2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til venstre under ”Baggrund” med passende information om baggrunden – eventuelt fra supplerende slides overskrifter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 anbefalingen med en til to sætninger pr. </a:t>
                </a:r>
                <a:r>
                  <a:rPr kumimoji="0" lang="da-DK" sz="1600" b="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baseline="0" dirty="0" smtClean="0"/>
                  <a:t>Marker</a:t>
                </a:r>
                <a:r>
                  <a:rPr lang="da-DK" sz="1600" dirty="0" smtClean="0"/>
                  <a:t> eventuelt dele af sætningerne under baggrund og anbefaling med fed og blå (som vist i eksemplerne) til at fremhæve nøgleord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7" name="Rektangel 2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5" name="Rektangel 2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7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ligeværdig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11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40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7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8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højretung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12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94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8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venstretung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13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486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-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52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14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455876" y="1556792"/>
            <a:ext cx="2664295" cy="4474368"/>
            <a:chOff x="755577" y="1556792"/>
            <a:chExt cx="3825656" cy="4474368"/>
          </a:xfrm>
        </p:grpSpPr>
        <p:sp>
          <p:nvSpPr>
            <p:cNvPr id="35" name="Pentagon 34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683568" y="1556792"/>
            <a:ext cx="2664295" cy="4474368"/>
            <a:chOff x="755577" y="1556792"/>
            <a:chExt cx="3825656" cy="4474368"/>
          </a:xfrm>
        </p:grpSpPr>
        <p:sp>
          <p:nvSpPr>
            <p:cNvPr id="57" name="Pentagon 5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7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uafsluttet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15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6228185" y="1556792"/>
            <a:ext cx="2808311" cy="4474368"/>
            <a:chOff x="755577" y="1556792"/>
            <a:chExt cx="4032448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1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50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16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0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17</a:t>
            </a:fld>
            <a:endParaRPr lang="da-DK" noProof="0"/>
          </a:p>
        </p:txBody>
      </p:sp>
      <p:grpSp>
        <p:nvGrpSpPr>
          <p:cNvPr id="5" name="Gruppe 35"/>
          <p:cNvGrpSpPr/>
          <p:nvPr/>
        </p:nvGrpSpPr>
        <p:grpSpPr>
          <a:xfrm>
            <a:off x="6228184" y="1556792"/>
            <a:ext cx="2664295" cy="4608512"/>
            <a:chOff x="755577" y="1556792"/>
            <a:chExt cx="3825656" cy="4464496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 smtClean="0"/>
                <a:t>[ Box heading ]</a:t>
              </a:r>
            </a:p>
          </p:txBody>
        </p:sp>
      </p:grp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7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 smtClean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2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7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2" name="Rektangel 51"/>
          <p:cNvSpPr/>
          <p:nvPr/>
        </p:nvSpPr>
        <p:spPr bwMode="auto">
          <a:xfrm>
            <a:off x="6276926" y="2276872"/>
            <a:ext cx="2485861" cy="37444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53" name="Tekstboks 52"/>
          <p:cNvSpPr txBox="1"/>
          <p:nvPr/>
        </p:nvSpPr>
        <p:spPr>
          <a:xfrm>
            <a:off x="6278333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0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Gruppe 39"/>
          <p:cNvGrpSpPr/>
          <p:nvPr/>
        </p:nvGrpSpPr>
        <p:grpSpPr>
          <a:xfrm>
            <a:off x="6228185" y="1556792"/>
            <a:ext cx="2808311" cy="4608512"/>
            <a:chOff x="755577" y="1556792"/>
            <a:chExt cx="4032448" cy="4474368"/>
          </a:xfrm>
        </p:grpSpPr>
        <p:sp>
          <p:nvSpPr>
            <p:cNvPr id="41" name="Pentagon 40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7" name="Rektangel 46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3" name="Tekstboks 52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uafsluttet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18</a:t>
            </a:fld>
            <a:endParaRPr lang="da-DK" noProof="0"/>
          </a:p>
        </p:txBody>
      </p: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6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 smtClean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7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56792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 flipH="1">
            <a:off x="6084168" y="1556792"/>
            <a:ext cx="2592287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56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592287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3656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62038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59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Hvid kasse, 4</a:t>
            </a:r>
            <a:r>
              <a:rPr lang="da-DK" dirty="0" smtClean="0"/>
              <a:t>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20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755577" y="1556792"/>
            <a:ext cx="2592287" cy="2155474"/>
            <a:chOff x="755577" y="1556792"/>
            <a:chExt cx="2592287" cy="2155474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5" name="Gruppe 34"/>
          <p:cNvGrpSpPr/>
          <p:nvPr/>
        </p:nvGrpSpPr>
        <p:grpSpPr>
          <a:xfrm>
            <a:off x="773266" y="3880932"/>
            <a:ext cx="2592287" cy="2155474"/>
            <a:chOff x="755577" y="1556792"/>
            <a:chExt cx="2592287" cy="2155474"/>
          </a:xfrm>
        </p:grpSpPr>
        <p:sp>
          <p:nvSpPr>
            <p:cNvPr id="36" name="Pentagon 35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8" name="Rektangel 47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9" name="Rektangel 48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0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1" name="Gruppe 50"/>
          <p:cNvGrpSpPr/>
          <p:nvPr/>
        </p:nvGrpSpPr>
        <p:grpSpPr>
          <a:xfrm flipH="1">
            <a:off x="6084168" y="1556792"/>
            <a:ext cx="2592287" cy="2155474"/>
            <a:chOff x="755577" y="1556792"/>
            <a:chExt cx="2592287" cy="2155474"/>
          </a:xfrm>
        </p:grpSpPr>
        <p:sp>
          <p:nvSpPr>
            <p:cNvPr id="52" name="Pentagon 5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3" name="Lige forbindelse 52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4" name="Rektangel 53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5" name="Rektangel 54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6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7" name="Gruppe 56"/>
          <p:cNvGrpSpPr/>
          <p:nvPr/>
        </p:nvGrpSpPr>
        <p:grpSpPr>
          <a:xfrm flipH="1">
            <a:off x="6101857" y="3880932"/>
            <a:ext cx="2592287" cy="2155474"/>
            <a:chOff x="755577" y="1556792"/>
            <a:chExt cx="2592287" cy="2155474"/>
          </a:xfrm>
        </p:grpSpPr>
        <p:sp>
          <p:nvSpPr>
            <p:cNvPr id="58" name="Pentagon 57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9" name="Lige forbindelse 58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0" name="Rektangel 59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1" name="Rektangel 60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942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to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en-US" sz="1400" dirty="0" smtClean="0"/>
                        <a:t xml:space="preserve">[ Text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21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64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786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6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6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22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8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fire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23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49081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044958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253203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8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fem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24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6231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7290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5172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15" name="Pentagon 14"/>
          <p:cNvSpPr/>
          <p:nvPr/>
        </p:nvSpPr>
        <p:spPr bwMode="auto">
          <a:xfrm>
            <a:off x="755576" y="28349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2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25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753969"/>
              </p:ext>
            </p:extLst>
          </p:nvPr>
        </p:nvGraphicFramePr>
        <p:xfrm>
          <a:off x="467544" y="1484784"/>
          <a:ext cx="8460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3914358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/>
          <p:cNvSpPr>
            <a:spLocks noChangeArrowheads="1"/>
          </p:cNvSpPr>
          <p:nvPr/>
        </p:nvSpPr>
        <p:spPr bwMode="auto">
          <a:xfrm rot="5400000">
            <a:off x="3914358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2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3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26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215652"/>
              </p:ext>
            </p:extLst>
          </p:nvPr>
        </p:nvGraphicFramePr>
        <p:xfrm>
          <a:off x="467544" y="1484784"/>
          <a:ext cx="8460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Lige forbindelse 15"/>
          <p:cNvCxnSpPr>
            <a:stCxn id="5" idx="3"/>
            <a:endCxn id="7" idx="1"/>
          </p:cNvCxnSpPr>
          <p:nvPr/>
        </p:nvCxnSpPr>
        <p:spPr bwMode="auto">
          <a:xfrm>
            <a:off x="23397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202390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/>
          <p:cNvSpPr>
            <a:spLocks noChangeArrowheads="1"/>
          </p:cNvSpPr>
          <p:nvPr/>
        </p:nvSpPr>
        <p:spPr bwMode="auto">
          <a:xfrm rot="5400000">
            <a:off x="4202390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AutoShape 26"/>
          <p:cNvSpPr>
            <a:spLocks noChangeArrowheads="1"/>
          </p:cNvSpPr>
          <p:nvPr/>
        </p:nvSpPr>
        <p:spPr bwMode="auto">
          <a:xfrm rot="5400000">
            <a:off x="4202390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1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2" name="Rektangel 2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3" name="Rektangel 2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1" name="Rektangel 2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4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27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7291"/>
              </p:ext>
            </p:extLst>
          </p:nvPr>
        </p:nvGraphicFramePr>
        <p:xfrm>
          <a:off x="467544" y="1484784"/>
          <a:ext cx="8460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540901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100520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31040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100520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431040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431040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AutoShape 26"/>
          <p:cNvSpPr>
            <a:spLocks noChangeArrowheads="1"/>
          </p:cNvSpPr>
          <p:nvPr/>
        </p:nvSpPr>
        <p:spPr bwMode="auto">
          <a:xfrm rot="5400000">
            <a:off x="431040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3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1" name="Rektangel 4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7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5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28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97834"/>
              </p:ext>
            </p:extLst>
          </p:nvPr>
        </p:nvGraphicFramePr>
        <p:xfrm>
          <a:off x="467544" y="1628800"/>
          <a:ext cx="8460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4184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>
            <a:off x="23397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25557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42" name="Vinklet forbindelse 41"/>
          <p:cNvCxnSpPr>
            <a:stCxn id="5" idx="3"/>
            <a:endCxn id="32" idx="1"/>
          </p:cNvCxnSpPr>
          <p:nvPr/>
        </p:nvCxnSpPr>
        <p:spPr bwMode="auto">
          <a:xfrm flipV="1">
            <a:off x="23397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6" name="AutoShape 26"/>
          <p:cNvSpPr>
            <a:spLocks noChangeArrowheads="1"/>
          </p:cNvSpPr>
          <p:nvPr/>
        </p:nvSpPr>
        <p:spPr bwMode="auto">
          <a:xfrm rot="5400000">
            <a:off x="44184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7" name="AutoShape 26"/>
          <p:cNvSpPr>
            <a:spLocks noChangeArrowheads="1"/>
          </p:cNvSpPr>
          <p:nvPr/>
        </p:nvSpPr>
        <p:spPr bwMode="auto">
          <a:xfrm rot="5400000">
            <a:off x="44184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8" name="AutoShape 26"/>
          <p:cNvSpPr>
            <a:spLocks noChangeArrowheads="1"/>
          </p:cNvSpPr>
          <p:nvPr/>
        </p:nvSpPr>
        <p:spPr bwMode="auto">
          <a:xfrm rot="5400000">
            <a:off x="44184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9" name="AutoShape 26"/>
          <p:cNvSpPr>
            <a:spLocks noChangeArrowheads="1"/>
          </p:cNvSpPr>
          <p:nvPr/>
        </p:nvSpPr>
        <p:spPr bwMode="auto">
          <a:xfrm rot="5400000">
            <a:off x="44184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50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1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4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1-3-2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29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4928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5172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7809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22"/>
          <p:cNvSpPr/>
          <p:nvPr/>
        </p:nvSpPr>
        <p:spPr bwMode="auto">
          <a:xfrm>
            <a:off x="2555776" y="40050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42930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39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6" idx="3"/>
            <a:endCxn id="27" idx="1"/>
          </p:cNvCxnSpPr>
          <p:nvPr/>
        </p:nvCxnSpPr>
        <p:spPr bwMode="auto">
          <a:xfrm flipV="1">
            <a:off x="4427984" y="24208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Vinklet forbindelse 55"/>
          <p:cNvCxnSpPr>
            <a:stCxn id="6" idx="3"/>
            <a:endCxn id="29" idx="1"/>
          </p:cNvCxnSpPr>
          <p:nvPr/>
        </p:nvCxnSpPr>
        <p:spPr bwMode="auto">
          <a:xfrm>
            <a:off x="4427984" y="2780928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Vinklet forbindelse 57"/>
          <p:cNvCxnSpPr>
            <a:stCxn id="23" idx="3"/>
            <a:endCxn id="38" idx="1"/>
          </p:cNvCxnSpPr>
          <p:nvPr/>
        </p:nvCxnSpPr>
        <p:spPr bwMode="auto">
          <a:xfrm flipV="1">
            <a:off x="4427984" y="39114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Vinklet forbindelse 59"/>
          <p:cNvCxnSpPr>
            <a:stCxn id="23" idx="3"/>
            <a:endCxn id="39" idx="1"/>
          </p:cNvCxnSpPr>
          <p:nvPr/>
        </p:nvCxnSpPr>
        <p:spPr bwMode="auto">
          <a:xfrm>
            <a:off x="4427984" y="4293096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2" name="Vinklet forbindelse 61"/>
          <p:cNvCxnSpPr>
            <a:stCxn id="8" idx="3"/>
            <a:endCxn id="34" idx="1"/>
          </p:cNvCxnSpPr>
          <p:nvPr/>
        </p:nvCxnSpPr>
        <p:spPr bwMode="auto">
          <a:xfrm flipV="1">
            <a:off x="4427984" y="54020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6" name="Vinklet forbindelse 65"/>
          <p:cNvCxnSpPr>
            <a:stCxn id="8" idx="3"/>
            <a:endCxn id="35" idx="1"/>
          </p:cNvCxnSpPr>
          <p:nvPr/>
        </p:nvCxnSpPr>
        <p:spPr bwMode="auto">
          <a:xfrm>
            <a:off x="4427984" y="58052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989535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 smtClean="0"/>
                        <a:t xml:space="preserve"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47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26722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 smtClean="0"/>
                        <a:t xml:space="preserve"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1-2-3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30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3166171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38" idx="1"/>
            <a:endCxn id="27" idx="1"/>
          </p:cNvCxnSpPr>
          <p:nvPr/>
        </p:nvCxnSpPr>
        <p:spPr bwMode="auto">
          <a:xfrm rot="10800000">
            <a:off x="4644008" y="242088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1" name="Lige forbindelse 70"/>
          <p:cNvCxnSpPr>
            <a:stCxn id="6" idx="3"/>
            <a:endCxn id="29" idx="1"/>
          </p:cNvCxnSpPr>
          <p:nvPr/>
        </p:nvCxnSpPr>
        <p:spPr bwMode="auto">
          <a:xfrm>
            <a:off x="4427984" y="316617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>
            <a:stCxn id="8" idx="3"/>
            <a:endCxn id="34" idx="1"/>
          </p:cNvCxnSpPr>
          <p:nvPr/>
        </p:nvCxnSpPr>
        <p:spPr bwMode="auto">
          <a:xfrm>
            <a:off x="4427984" y="540003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7" name="Vinklet forbindelse 76"/>
          <p:cNvCxnSpPr>
            <a:stCxn id="35" idx="1"/>
            <a:endCxn id="39" idx="1"/>
          </p:cNvCxnSpPr>
          <p:nvPr/>
        </p:nvCxnSpPr>
        <p:spPr bwMode="auto">
          <a:xfrm rot="10800000">
            <a:off x="4644008" y="4656738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1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31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Rektangel 13"/>
          <p:cNvSpPr/>
          <p:nvPr/>
        </p:nvSpPr>
        <p:spPr bwMode="auto">
          <a:xfrm>
            <a:off x="1331640" y="234888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2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Rektangel 5"/>
          <p:cNvSpPr/>
          <p:nvPr/>
        </p:nvSpPr>
        <p:spPr bwMode="auto">
          <a:xfrm>
            <a:off x="1331640" y="234888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1331640" y="429309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3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331640" y="23488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1331640" y="36810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1331640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4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34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Rektangel 21"/>
          <p:cNvSpPr/>
          <p:nvPr/>
        </p:nvSpPr>
        <p:spPr bwMode="auto">
          <a:xfrm>
            <a:off x="1331640" y="23488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1331640" y="42690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4" name="Rektangel 23"/>
          <p:cNvSpPr/>
          <p:nvPr/>
        </p:nvSpPr>
        <p:spPr bwMode="auto">
          <a:xfrm>
            <a:off x="1331640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5" name="Rektangel 24"/>
          <p:cNvSpPr/>
          <p:nvPr/>
        </p:nvSpPr>
        <p:spPr bwMode="auto">
          <a:xfrm>
            <a:off x="1331640" y="33089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5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35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1331640" y="23488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8" name="Rektangel 27"/>
          <p:cNvSpPr/>
          <p:nvPr/>
        </p:nvSpPr>
        <p:spPr bwMode="auto">
          <a:xfrm>
            <a:off x="1331640" y="46891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1331640" y="54692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0" name="Rektangel 29"/>
          <p:cNvSpPr/>
          <p:nvPr/>
        </p:nvSpPr>
        <p:spPr bwMode="auto">
          <a:xfrm>
            <a:off x="1331640" y="39090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Rektangel 30"/>
          <p:cNvSpPr/>
          <p:nvPr/>
        </p:nvSpPr>
        <p:spPr bwMode="auto">
          <a:xfrm>
            <a:off x="1331640" y="31289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[ KPI definition – skriv navn som overskrift ]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938096"/>
              </p:ext>
            </p:extLst>
          </p:nvPr>
        </p:nvGraphicFramePr>
        <p:xfrm>
          <a:off x="827584" y="1699736"/>
          <a:ext cx="7285037" cy="403352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968784"/>
                <a:gridCol w="6316253"/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KPI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Name the KPI ]</a:t>
                      </a: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Definition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Exactly what the KPI shows, how it is calculated, any uncertainties, and how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Measured per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How often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Measured by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Name and full department, incl. hierarchy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Baseline</a:t>
                      </a:r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A chart (bars or line) showing the history and the targets set — history and target in different colours ]</a:t>
                      </a:r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Targets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Four targets (e.g. quarters) in text, so the chart cannot be misread ]</a:t>
                      </a:r>
                      <a:endParaRPr lang="da-DK" sz="1200" kern="1200" dirty="0" smtClean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7" name="Rektangel 6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slide med informationer om den relevante KPI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</a:rPr>
                <a:t>Alle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 tekster med firkantede parenteser [] skal erstattes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I feltet ”Baseline” er det vigtigt at der er en graf over udviklingen som beskrevet. Det skal enten være et søjlediagram eller et linjediagram.</a:t>
              </a: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600" b="0" i="0" u="none" strike="noStrike" cap="none" normalizeH="0" dirty="0" smtClean="0">
                <a:ln>
                  <a:noFill/>
                </a:ln>
                <a:effectLst/>
              </a:endParaRP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Dette slide er et typisk bilags-slide der er vigtigt at have med, men som ikke skal bruges i selve præsentationen.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" name="Rektangel 7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9" name="Rektangel 8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389366" cy="762000"/>
          </a:xfrm>
          <a:noFill/>
        </p:spPr>
        <p:txBody>
          <a:bodyPr/>
          <a:lstStyle/>
          <a:p>
            <a:r>
              <a:rPr lang="da-DK" dirty="0" smtClean="0"/>
              <a:t>To vertikale kasser med sorte kasser som overskrifter samt konklusionskasser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37</a:t>
            </a:fld>
            <a:endParaRPr lang="da-DK"/>
          </a:p>
        </p:txBody>
      </p:sp>
      <p:sp>
        <p:nvSpPr>
          <p:cNvPr id="4" name="Pentagon 3"/>
          <p:cNvSpPr/>
          <p:nvPr/>
        </p:nvSpPr>
        <p:spPr bwMode="auto">
          <a:xfrm flipH="1">
            <a:off x="5076057" y="1628801"/>
            <a:ext cx="3816424" cy="3528392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/>
          </a:p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 smtClean="0"/>
              <a:t>.</a:t>
            </a:r>
            <a:endParaRPr lang="da-DK" sz="1000" dirty="0"/>
          </a:p>
        </p:txBody>
      </p:sp>
      <p:sp>
        <p:nvSpPr>
          <p:cNvPr id="23" name="Rektangel 22"/>
          <p:cNvSpPr/>
          <p:nvPr/>
        </p:nvSpPr>
        <p:spPr bwMode="auto">
          <a:xfrm>
            <a:off x="719138" y="1628800"/>
            <a:ext cx="3816000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719138" y="1628800"/>
            <a:ext cx="3816000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5" name="Rektangel 14"/>
          <p:cNvSpPr/>
          <p:nvPr/>
        </p:nvSpPr>
        <p:spPr bwMode="auto">
          <a:xfrm>
            <a:off x="5076058" y="1628800"/>
            <a:ext cx="3816424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6" name="Rektangel 15"/>
          <p:cNvSpPr/>
          <p:nvPr/>
        </p:nvSpPr>
        <p:spPr bwMode="auto">
          <a:xfrm>
            <a:off x="719138" y="5308192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7" name="Rektangel 16"/>
          <p:cNvSpPr/>
          <p:nvPr/>
        </p:nvSpPr>
        <p:spPr bwMode="auto">
          <a:xfrm>
            <a:off x="5076057" y="5309937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gerne konklusionskassen i bunden af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0922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med venstrevendt 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38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grpSp>
        <p:nvGrpSpPr>
          <p:cNvPr id="8" name="Gruppe 7"/>
          <p:cNvGrpSpPr/>
          <p:nvPr/>
        </p:nvGrpSpPr>
        <p:grpSpPr>
          <a:xfrm>
            <a:off x="4932040" y="1628801"/>
            <a:ext cx="3744417" cy="4536503"/>
            <a:chOff x="5148064" y="1628801"/>
            <a:chExt cx="3744417" cy="4536503"/>
          </a:xfrm>
        </p:grpSpPr>
        <p:sp>
          <p:nvSpPr>
            <p:cNvPr id="4" name="Pentagon 3"/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en-US" sz="1200" b="1" dirty="0" smtClean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  <a:endParaRPr lang="da-DK" sz="1200" dirty="0"/>
            </a:p>
          </p:txBody>
        </p:sp>
        <p:sp>
          <p:nvSpPr>
            <p:cNvPr id="27" name="Kombinationstegning 26"/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[ Heading ]</a:t>
              </a:r>
            </a:p>
          </p:txBody>
        </p:sp>
      </p:grp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71" y="1628800"/>
            <a:ext cx="3756012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2219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uden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39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8" y="1623536"/>
            <a:ext cx="3420814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5" name="Gruppe 4"/>
          <p:cNvGrpSpPr/>
          <p:nvPr/>
        </p:nvGrpSpPr>
        <p:grpSpPr>
          <a:xfrm>
            <a:off x="4499992" y="1623536"/>
            <a:ext cx="4248472" cy="4613776"/>
            <a:chOff x="4499992" y="1623536"/>
            <a:chExt cx="4248472" cy="4613776"/>
          </a:xfrm>
        </p:grpSpPr>
        <p:sp>
          <p:nvSpPr>
            <p:cNvPr id="14" name="Rektangel 13"/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15" name="Rektangel 14"/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 smtClean="0">
                  <a:solidFill>
                    <a:schemeClr val="bg1"/>
                  </a:solidFill>
                </a:rPr>
                <a:t>[ Heading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3057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led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1700807"/>
            <a:ext cx="2857500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8101335" cy="762000"/>
          </a:xfrm>
        </p:spPr>
        <p:txBody>
          <a:bodyPr/>
          <a:lstStyle/>
          <a:p>
            <a:r>
              <a:rPr lang="da-DK" dirty="0"/>
              <a:t>Kommentering af indholdselement: Indholdselement til venstre, kommentering til højre med </a:t>
            </a:r>
            <a:r>
              <a:rPr lang="da-DK" dirty="0" smtClean="0"/>
              <a:t>højrevendt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40</a:t>
            </a:fld>
            <a:endParaRPr lang="da-DK" dirty="0"/>
          </a:p>
        </p:txBody>
      </p:sp>
      <p:sp>
        <p:nvSpPr>
          <p:cNvPr id="5" name="Vinkel 4"/>
          <p:cNvSpPr/>
          <p:nvPr/>
        </p:nvSpPr>
        <p:spPr bwMode="auto">
          <a:xfrm>
            <a:off x="3923928" y="170080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4" name="Tabel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91191"/>
              </p:ext>
            </p:extLst>
          </p:nvPr>
        </p:nvGraphicFramePr>
        <p:xfrm>
          <a:off x="4572000" y="1700808"/>
          <a:ext cx="4032448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32448"/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475656" y="5733256"/>
            <a:ext cx="6912768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eller slet konklusionskassen nederst på siden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0486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Kun streger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41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449662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Sort streg,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42</a:t>
            </a:fld>
            <a:endParaRPr lang="da-DK" noProof="0"/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The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353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43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569443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858013" y="1556792"/>
            <a:ext cx="3569443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074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44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276926" y="1556792"/>
            <a:ext cx="2508826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504618" y="1556792"/>
            <a:ext cx="2508826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508826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306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45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314387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5362069" y="1556792"/>
            <a:ext cx="3314387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5364088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Vinkel 26"/>
          <p:cNvSpPr/>
          <p:nvPr/>
        </p:nvSpPr>
        <p:spPr bwMode="auto">
          <a:xfrm>
            <a:off x="4572000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309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09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46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749306" y="1556792"/>
            <a:ext cx="2143174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740808" y="1556792"/>
            <a:ext cx="2143174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143174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Vinkel 24"/>
          <p:cNvSpPr/>
          <p:nvPr/>
        </p:nvSpPr>
        <p:spPr bwMode="auto">
          <a:xfrm>
            <a:off x="3059832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084168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51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med 3 underpunkter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47</a:t>
            </a:fld>
            <a:endParaRPr lang="da-DK" noProof="0"/>
          </a:p>
        </p:txBody>
      </p:sp>
      <p:grpSp>
        <p:nvGrpSpPr>
          <p:cNvPr id="6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370840">
                <a:tc gridSpan="2"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en-US" dirty="0" smtClean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en-US" dirty="0" smtClean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4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48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 smtClean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 smtClean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49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2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50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560839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4808"/>
                <a:gridCol w="1710598"/>
                <a:gridCol w="102636"/>
                <a:gridCol w="4002797"/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1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51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5" y="1484784"/>
          <a:ext cx="7488831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4327"/>
                <a:gridCol w="5114504"/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52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36941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1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53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72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3" name="Pentagon 12"/>
          <p:cNvSpPr/>
          <p:nvPr/>
        </p:nvSpPr>
        <p:spPr>
          <a:xfrm>
            <a:off x="1547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2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54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3564000"/>
                <a:gridCol w="36000"/>
                <a:gridCol w="36000"/>
                <a:gridCol w="3564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6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8" name="Pentagon 17"/>
          <p:cNvSpPr/>
          <p:nvPr/>
        </p:nvSpPr>
        <p:spPr>
          <a:xfrm>
            <a:off x="1547664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19" name="Vinkel 18"/>
          <p:cNvSpPr/>
          <p:nvPr/>
        </p:nvSpPr>
        <p:spPr>
          <a:xfrm>
            <a:off x="5148064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3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55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2340000"/>
                <a:gridCol w="36000"/>
                <a:gridCol w="36000"/>
                <a:gridCol w="2340000"/>
                <a:gridCol w="36000"/>
                <a:gridCol w="36000"/>
                <a:gridCol w="2448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9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0" name="Pentagon 19"/>
          <p:cNvSpPr/>
          <p:nvPr/>
        </p:nvSpPr>
        <p:spPr>
          <a:xfrm>
            <a:off x="1547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1" name="Vinkel 20"/>
          <p:cNvSpPr/>
          <p:nvPr/>
        </p:nvSpPr>
        <p:spPr>
          <a:xfrm>
            <a:off x="3923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5" name="Vinkel 24"/>
          <p:cNvSpPr/>
          <p:nvPr/>
        </p:nvSpPr>
        <p:spPr>
          <a:xfrm>
            <a:off x="6372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4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764000"/>
                <a:gridCol w="36000"/>
                <a:gridCol w="36000"/>
                <a:gridCol w="1728000"/>
                <a:gridCol w="36000"/>
                <a:gridCol w="36000"/>
                <a:gridCol w="1728000"/>
                <a:gridCol w="36000"/>
                <a:gridCol w="36000"/>
                <a:gridCol w="1764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Pentagon 21"/>
          <p:cNvSpPr/>
          <p:nvPr/>
        </p:nvSpPr>
        <p:spPr>
          <a:xfrm>
            <a:off x="1547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3" name="Vinkel 22"/>
          <p:cNvSpPr/>
          <p:nvPr/>
        </p:nvSpPr>
        <p:spPr>
          <a:xfrm>
            <a:off x="3347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4" name="Vinkel 23"/>
          <p:cNvSpPr/>
          <p:nvPr/>
        </p:nvSpPr>
        <p:spPr>
          <a:xfrm>
            <a:off x="5148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30" name="Vinkel 29"/>
          <p:cNvSpPr/>
          <p:nvPr/>
        </p:nvSpPr>
        <p:spPr>
          <a:xfrm>
            <a:off x="6948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5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368000"/>
                <a:gridCol w="36000"/>
                <a:gridCol w="36000"/>
                <a:gridCol w="1332000"/>
                <a:gridCol w="36000"/>
                <a:gridCol w="36000"/>
                <a:gridCol w="1368000"/>
                <a:gridCol w="36000"/>
                <a:gridCol w="36000"/>
                <a:gridCol w="1368000"/>
                <a:gridCol w="36000"/>
                <a:gridCol w="36000"/>
                <a:gridCol w="1368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5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Pentagon 24"/>
          <p:cNvSpPr/>
          <p:nvPr/>
        </p:nvSpPr>
        <p:spPr>
          <a:xfrm>
            <a:off x="1547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6" name="Vinkel 25"/>
          <p:cNvSpPr/>
          <p:nvPr/>
        </p:nvSpPr>
        <p:spPr>
          <a:xfrm>
            <a:off x="2952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7" name="Vinkel 26"/>
          <p:cNvSpPr/>
          <p:nvPr/>
        </p:nvSpPr>
        <p:spPr>
          <a:xfrm>
            <a:off x="4355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8" name="Vinkel 27"/>
          <p:cNvSpPr/>
          <p:nvPr/>
        </p:nvSpPr>
        <p:spPr>
          <a:xfrm>
            <a:off x="5796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9" name="Vinkel 28"/>
          <p:cNvSpPr/>
          <p:nvPr/>
        </p:nvSpPr>
        <p:spPr>
          <a:xfrm>
            <a:off x="7236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6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58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116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8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7"/>
          <p:cNvGrpSpPr/>
          <p:nvPr/>
        </p:nvGrpSpPr>
        <p:grpSpPr>
          <a:xfrm>
            <a:off x="1548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/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>
                  <a:solidFill>
                    <a:schemeClr val="tx1"/>
                  </a:solidFill>
                </a:rPr>
                <a:t>[ Text ]</a:t>
              </a:r>
              <a:endParaRPr lang="da-DK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Vinkel 6"/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8" name="Vinkel 7"/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9" name="Vinkel 8"/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0" name="Vinkel 9"/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1" name="Vinkel 10"/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1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1 kasse og 6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59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0" y="1847743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9" name="Kombinationstegning 18"/>
          <p:cNvSpPr/>
          <p:nvPr/>
        </p:nvSpPr>
        <p:spPr bwMode="auto">
          <a:xfrm>
            <a:off x="971601" y="3729980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81403"/>
              </p:ext>
            </p:extLst>
          </p:nvPr>
        </p:nvGraphicFramePr>
        <p:xfrm>
          <a:off x="179512" y="3717033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84157"/>
                <a:gridCol w="1284157"/>
                <a:gridCol w="1284157"/>
                <a:gridCol w="1284157"/>
                <a:gridCol w="1284157"/>
                <a:gridCol w="1284157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en-US" sz="1200" dirty="0" smtClean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0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1" name="Gruppe 20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3" name="Rektangel 2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24" name="Rektangel 2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2" name="Rektangel 2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4005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2 kasser og 3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60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1" y="1847743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5" name="Vinkel 14"/>
          <p:cNvSpPr/>
          <p:nvPr/>
        </p:nvSpPr>
        <p:spPr bwMode="auto">
          <a:xfrm>
            <a:off x="4860032" y="1628801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5040486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5212240" y="1847744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5212240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34" name="Kombinationstegning 33"/>
          <p:cNvSpPr/>
          <p:nvPr/>
        </p:nvSpPr>
        <p:spPr bwMode="auto">
          <a:xfrm>
            <a:off x="4866467" y="3729981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3" name="Kombinationstegning 32"/>
          <p:cNvSpPr/>
          <p:nvPr/>
        </p:nvSpPr>
        <p:spPr bwMode="auto">
          <a:xfrm>
            <a:off x="978035" y="3729980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80200"/>
              </p:ext>
            </p:extLst>
          </p:nvPr>
        </p:nvGraphicFramePr>
        <p:xfrm>
          <a:off x="179512" y="3717033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51552"/>
                <a:gridCol w="1251552"/>
                <a:gridCol w="1251552"/>
                <a:gridCol w="216025"/>
                <a:gridCol w="1248139"/>
                <a:gridCol w="1248139"/>
                <a:gridCol w="1248139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en-US" sz="1200" dirty="0" smtClean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36" name="Gruppe 3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639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3 kasser og 2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61</a:t>
            </a:fld>
            <a:endParaRPr lang="da-DK" noProof="0"/>
          </a:p>
        </p:txBody>
      </p:sp>
      <p:sp>
        <p:nvSpPr>
          <p:cNvPr id="15" name="Vinkel 14"/>
          <p:cNvSpPr/>
          <p:nvPr/>
        </p:nvSpPr>
        <p:spPr bwMode="auto">
          <a:xfrm>
            <a:off x="3599892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3722854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383988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3839888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Pentagon 5"/>
          <p:cNvSpPr/>
          <p:nvPr/>
        </p:nvSpPr>
        <p:spPr bwMode="auto">
          <a:xfrm>
            <a:off x="971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15463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15463" y="1856924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15463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236101" y="1637981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7" name="Lige forbindelse 26"/>
          <p:cNvCxnSpPr/>
          <p:nvPr/>
        </p:nvCxnSpPr>
        <p:spPr bwMode="auto">
          <a:xfrm>
            <a:off x="6359063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Rektangel 27"/>
          <p:cNvSpPr/>
          <p:nvPr/>
        </p:nvSpPr>
        <p:spPr bwMode="auto">
          <a:xfrm>
            <a:off x="6476097" y="1856924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6476097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Kombinationstegning 49"/>
          <p:cNvSpPr/>
          <p:nvPr/>
        </p:nvSpPr>
        <p:spPr bwMode="auto">
          <a:xfrm>
            <a:off x="6236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49" name="Kombinationstegning 48"/>
          <p:cNvSpPr/>
          <p:nvPr/>
        </p:nvSpPr>
        <p:spPr bwMode="auto">
          <a:xfrm>
            <a:off x="971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51" name="Kombinationstegning 50"/>
          <p:cNvSpPr/>
          <p:nvPr/>
        </p:nvSpPr>
        <p:spPr bwMode="auto">
          <a:xfrm>
            <a:off x="3601541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29655"/>
              </p:ext>
            </p:extLst>
          </p:nvPr>
        </p:nvGraphicFramePr>
        <p:xfrm>
          <a:off x="179512" y="3717033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/>
                <a:gridCol w="1274853"/>
                <a:gridCol w="1274853"/>
                <a:gridCol w="72000"/>
                <a:gridCol w="1281435"/>
                <a:gridCol w="1281435"/>
                <a:gridCol w="72000"/>
                <a:gridCol w="1271823"/>
                <a:gridCol w="1271823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6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894671" y="1649842"/>
            <a:ext cx="2044925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6" name="Gruppe 85"/>
          <p:cNvGrpSpPr/>
          <p:nvPr/>
        </p:nvGrpSpPr>
        <p:grpSpPr>
          <a:xfrm>
            <a:off x="6989347" y="1649840"/>
            <a:ext cx="2044925" cy="2619009"/>
            <a:chOff x="3599892" y="1637982"/>
            <a:chExt cx="2674426" cy="2619009"/>
          </a:xfrm>
        </p:grpSpPr>
        <p:sp>
          <p:nvSpPr>
            <p:cNvPr id="87" name="Vinkel 8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8" name="Lige forbindelse 8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9" name="Rektangel 8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0" name="Rektangel 8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91" name="Kombinationstegning 9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2064675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942009" y="1649842"/>
            <a:ext cx="2044925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4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62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330"/>
              </p:ext>
            </p:extLst>
          </p:nvPr>
        </p:nvGraphicFramePr>
        <p:xfrm>
          <a:off x="179512" y="3717033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944000"/>
                <a:gridCol w="108000"/>
                <a:gridCol w="1944000"/>
                <a:gridCol w="108000"/>
                <a:gridCol w="1944000"/>
                <a:gridCol w="108000"/>
                <a:gridCol w="1944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1611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e 61"/>
          <p:cNvGrpSpPr/>
          <p:nvPr/>
        </p:nvGrpSpPr>
        <p:grpSpPr>
          <a:xfrm>
            <a:off x="7378970" y="1649841"/>
            <a:ext cx="1651403" cy="2619009"/>
            <a:chOff x="3599892" y="1637982"/>
            <a:chExt cx="2674426" cy="2619009"/>
          </a:xfrm>
        </p:grpSpPr>
        <p:sp>
          <p:nvSpPr>
            <p:cNvPr id="63" name="Vinkel 6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4" name="Lige forbindelse 6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5" name="Rektangel 6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6" name="Rektangel 6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67" name="Kombinationstegning 6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1" name="Gruppe 10"/>
          <p:cNvGrpSpPr/>
          <p:nvPr/>
        </p:nvGrpSpPr>
        <p:grpSpPr>
          <a:xfrm>
            <a:off x="2477392" y="1649842"/>
            <a:ext cx="1651403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1667353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111251" y="1649842"/>
            <a:ext cx="1651403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5745110" y="1649842"/>
            <a:ext cx="1651403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5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63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29741"/>
              </p:ext>
            </p:extLst>
          </p:nvPr>
        </p:nvGraphicFramePr>
        <p:xfrm>
          <a:off x="179512" y="3717033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6138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206055" y="1649842"/>
            <a:ext cx="1355064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4" y="1649841"/>
            <a:ext cx="1368152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3571438" y="1649842"/>
            <a:ext cx="1355064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4936821" y="1649842"/>
            <a:ext cx="1355064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75" name="Gruppe 74"/>
          <p:cNvGrpSpPr/>
          <p:nvPr/>
        </p:nvGrpSpPr>
        <p:grpSpPr>
          <a:xfrm>
            <a:off x="6302204" y="1649842"/>
            <a:ext cx="1355064" cy="2619009"/>
            <a:chOff x="3599892" y="1637982"/>
            <a:chExt cx="2674426" cy="2619009"/>
          </a:xfrm>
        </p:grpSpPr>
        <p:sp>
          <p:nvSpPr>
            <p:cNvPr id="76" name="Vinkel 75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77" name="Lige forbindelse 76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8" name="Rektangel 77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79" name="Rektangel 78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0" name="Kombinationstegning 79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1" name="Gruppe 80"/>
          <p:cNvGrpSpPr/>
          <p:nvPr/>
        </p:nvGrpSpPr>
        <p:grpSpPr>
          <a:xfrm>
            <a:off x="7667586" y="1649842"/>
            <a:ext cx="1355064" cy="2619009"/>
            <a:chOff x="3599892" y="1637982"/>
            <a:chExt cx="2674426" cy="2619009"/>
          </a:xfrm>
        </p:grpSpPr>
        <p:sp>
          <p:nvSpPr>
            <p:cNvPr id="82" name="Vinkel 81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3" name="Lige forbindelse 82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4" name="Rektangel 83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5" name="Rektangel 84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6" name="Kombinationstegning 85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6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64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882399"/>
              </p:ext>
            </p:extLst>
          </p:nvPr>
        </p:nvGraphicFramePr>
        <p:xfrm>
          <a:off x="179512" y="3717033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022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836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-324548" y="3068961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1 kasser, 8 kolonner</a:t>
            </a:r>
            <a:endParaRPr lang="da-DK" dirty="0"/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38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575381" y="2169032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2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503542" y="3969062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7" name="Gruppe 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4" name="Rektangel 1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5" name="Rektangel 1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9" name="Rektangel 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41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884608" y="1859807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809838" y="3047939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3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809838" y="4310839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8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5" name="Rektangel 1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6" name="Rektangel 1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4" name="Rektangel 1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43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063262" y="1681153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07600" y="2565425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07600" y="3519272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4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07600" y="4473118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9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45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135490" y="1608926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87553" y="2341043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87553" y="3121095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087553" y="390114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5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87553" y="468119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14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48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235968" y="1508449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198779" y="211832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198779" y="2772816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198779" y="342731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6" name="Vinkel 45"/>
          <p:cNvSpPr/>
          <p:nvPr/>
        </p:nvSpPr>
        <p:spPr bwMode="auto">
          <a:xfrm rot="5400000">
            <a:off x="1198779" y="4081804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7" name="Vinkel 46"/>
          <p:cNvSpPr/>
          <p:nvPr/>
        </p:nvSpPr>
        <p:spPr bwMode="auto">
          <a:xfrm rot="5400000">
            <a:off x="1198779" y="4713989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6 kasser, 8 kolonner</a:t>
            </a:r>
            <a:endParaRPr lang="da-DK" dirty="0"/>
          </a:p>
        </p:txBody>
      </p:sp>
      <p:grpSp>
        <p:nvGrpSpPr>
          <p:cNvPr id="1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Tabeller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dias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71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 – kan ikke farves i cellerne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243923"/>
              </p:ext>
            </p:extLst>
          </p:nvPr>
        </p:nvGraphicFramePr>
        <p:xfrm>
          <a:off x="775727" y="1628800"/>
          <a:ext cx="7863713" cy="390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72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269064"/>
              </p:ext>
            </p:extLst>
          </p:nvPr>
        </p:nvGraphicFramePr>
        <p:xfrm>
          <a:off x="775727" y="1628800"/>
          <a:ext cx="786371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8 kolonner + en kasse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9422061"/>
              </p:ext>
            </p:extLst>
          </p:nvPr>
        </p:nvGraphicFramePr>
        <p:xfrm>
          <a:off x="775727" y="1628800"/>
          <a:ext cx="815315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864000"/>
                <a:gridCol w="72000"/>
                <a:gridCol w="75600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Plus/Minus liste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5148063"/>
              </p:ext>
            </p:extLst>
          </p:nvPr>
        </p:nvGraphicFramePr>
        <p:xfrm>
          <a:off x="775727" y="1628800"/>
          <a:ext cx="770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3240000"/>
                <a:gridCol w="72000"/>
                <a:gridCol w="3240000"/>
              </a:tblGrid>
              <a:tr h="144016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Area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Plus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Minus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I denne template anbefales det at have mellem 3 og 5 </a:t>
                </a:r>
                <a:r>
                  <a:rPr lang="da-DK" sz="1100" dirty="0" err="1" smtClean="0"/>
                  <a:t>bullets</a:t>
                </a:r>
                <a:r>
                  <a:rPr lang="da-DK" sz="1100" dirty="0" smtClean="0"/>
                  <a:t> pr. ”kasse” i tabellen.</a:t>
                </a: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de farvede kasser.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Klassisk tabel, 5x5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781772" y="1556792"/>
          <a:ext cx="753464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/>
                <a:gridCol w="1189774"/>
                <a:gridCol w="1189774"/>
                <a:gridCol w="1189774"/>
                <a:gridCol w="1189774"/>
                <a:gridCol w="1189774"/>
                <a:gridCol w="1189774"/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en-US" sz="1400" b="1" dirty="0" smtClean="0">
                          <a:solidFill>
                            <a:schemeClr val="tx1"/>
                          </a:solidFill>
                        </a:rPr>
                        <a:t>Table heading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en-US" sz="1000" dirty="0" smtClean="0">
                          <a:solidFill>
                            <a:schemeClr val="tx1"/>
                          </a:solidFill>
                        </a:rPr>
                        <a:t>Notes: [ add notes ]</a:t>
                      </a:r>
                      <a:endParaRPr lang="da-DK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eventuelt rækkerne med ”over overskrifterne” på kolonner og rækker.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rækker så de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kolonner så det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tabellen. Husk at der både er en for alle rækkerne, for de enkelte rækker og for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0" name="Rektangel 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1" name="Rektangel 10"/>
          <p:cNvSpPr/>
          <p:nvPr/>
        </p:nvSpPr>
        <p:spPr bwMode="auto">
          <a:xfrm>
            <a:off x="9396536" y="0"/>
            <a:ext cx="3528392" cy="548680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Vejledning til template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ramme omkring og overskrift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77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29049"/>
              </p:ext>
            </p:extLst>
          </p:nvPr>
        </p:nvGraphicFramePr>
        <p:xfrm>
          <a:off x="720865" y="1700808"/>
          <a:ext cx="8171615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5"/>
                <a:gridCol w="1379855"/>
                <a:gridCol w="1440000"/>
                <a:gridCol w="1440000"/>
                <a:gridCol w="227330"/>
                <a:gridCol w="900000"/>
                <a:gridCol w="900000"/>
                <a:gridCol w="900000"/>
                <a:gridCol w="900000"/>
                <a:gridCol w="42215"/>
              </a:tblGrid>
              <a:tr h="72000">
                <a:tc gridSpan="10">
                  <a:txBody>
                    <a:bodyPr/>
                    <a:lstStyle/>
                    <a:p>
                      <a:r>
                        <a:rPr lang="en-US" sz="1000" b="1" dirty="0" smtClean="0">
                          <a:solidFill>
                            <a:sysClr val="windowText" lastClr="000000"/>
                          </a:solidFill>
                        </a:rPr>
                        <a:t>Headings</a:t>
                      </a:r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 dirty="0" smtClean="0"/>
                        <a:t>Top heading</a:t>
                      </a: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r>
                        <a:rPr lang="en-US" sz="1000" dirty="0" smtClean="0"/>
                        <a:t>Notes: [ Add notes ]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de rækker du ikke skal bruge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overflødige. Alternativt tilføjes flere. Designet bibeholdes på denne </a:t>
                </a:r>
                <a:r>
                  <a:rPr kumimoji="0" lang="da-DK" sz="1100" b="0" i="0" u="none" strike="noStrike" cap="none" normalizeH="0" baseline="0" dirty="0" err="1" smtClean="0">
                    <a:ln>
                      <a:noFill/>
                    </a:ln>
                    <a:effectLst/>
                  </a:rPr>
                  <a:t>template</a:t>
                </a: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ved tilføjelser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Slet Total rækken,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Brug gerne tal eller lignende.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1462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Trekanter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78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Trekant, enkel med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79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9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7" name="Tekstfelt 26"/>
          <p:cNvSpPr txBox="1"/>
          <p:nvPr/>
        </p:nvSpPr>
        <p:spPr>
          <a:xfrm>
            <a:off x="6278127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 smtClean="0"/>
              <a:t>[ Text ]</a:t>
            </a:r>
          </a:p>
        </p:txBody>
      </p:sp>
      <p:sp>
        <p:nvSpPr>
          <p:cNvPr id="28" name="Tekstfelt 27"/>
          <p:cNvSpPr txBox="1"/>
          <p:nvPr/>
        </p:nvSpPr>
        <p:spPr>
          <a:xfrm>
            <a:off x="567563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dirty="0" smtClean="0"/>
              <a:t>[ Text ]</a:t>
            </a:r>
          </a:p>
        </p:txBody>
      </p:sp>
      <p:sp>
        <p:nvSpPr>
          <p:cNvPr id="29" name="Tekstfelt 28"/>
          <p:cNvSpPr txBox="1"/>
          <p:nvPr/>
        </p:nvSpPr>
        <p:spPr>
          <a:xfrm>
            <a:off x="3425660" y="1844824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 smtClean="0"/>
              <a:t>[ Text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 og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80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grpSp>
        <p:nvGrpSpPr>
          <p:cNvPr id="3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4" name="Rektangel 2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25" name="Rektangel 2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3" name="Rektangel 22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el 5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cirkler, tekst ved hjørnerne og uddybning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81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5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5" name="Rektangel 5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56" name="Rektangel 5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4" name="Rektangel 5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173342" cy="762000"/>
          </a:xfrm>
        </p:spPr>
        <p:txBody>
          <a:bodyPr/>
          <a:lstStyle/>
          <a:p>
            <a:r>
              <a:rPr lang="da-DK" dirty="0" smtClean="0"/>
              <a:t>Trekant med cirkler, tekst ved hjørnerne, uddybning samt fremhævning af kanterne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82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34"/>
          <p:cNvGrpSpPr/>
          <p:nvPr/>
        </p:nvGrpSpPr>
        <p:grpSpPr>
          <a:xfrm>
            <a:off x="6228184" y="2924944"/>
            <a:ext cx="2736304" cy="864096"/>
            <a:chOff x="6012160" y="2996952"/>
            <a:chExt cx="2736304" cy="864096"/>
          </a:xfrm>
        </p:grpSpPr>
        <p:sp>
          <p:nvSpPr>
            <p:cNvPr id="33" name="Afrundet rektangel 32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</p:txBody>
        </p:sp>
        <p:sp>
          <p:nvSpPr>
            <p:cNvPr id="34" name="Kantet venstreparentes 33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37" name="Lige pilforbindelse 36"/>
          <p:cNvCxnSpPr>
            <a:stCxn id="34" idx="1"/>
            <a:endCxn id="8" idx="5"/>
          </p:cNvCxnSpPr>
          <p:nvPr/>
        </p:nvCxnSpPr>
        <p:spPr bwMode="auto">
          <a:xfrm flipH="1">
            <a:off x="5443075" y="3356992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9" name="Gruppe 37"/>
          <p:cNvGrpSpPr/>
          <p:nvPr/>
        </p:nvGrpSpPr>
        <p:grpSpPr>
          <a:xfrm flipH="1">
            <a:off x="28516" y="2924944"/>
            <a:ext cx="2736304" cy="864096"/>
            <a:chOff x="6012160" y="2996952"/>
            <a:chExt cx="2736304" cy="864096"/>
          </a:xfrm>
        </p:grpSpPr>
        <p:sp>
          <p:nvSpPr>
            <p:cNvPr id="39" name="Afrundet rektangel 38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</p:txBody>
        </p:sp>
        <p:sp>
          <p:nvSpPr>
            <p:cNvPr id="40" name="Kantet venstreparentes 39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41" name="Lige pilforbindelse 40"/>
          <p:cNvCxnSpPr>
            <a:stCxn id="40" idx="1"/>
            <a:endCxn id="8" idx="1"/>
          </p:cNvCxnSpPr>
          <p:nvPr/>
        </p:nvCxnSpPr>
        <p:spPr bwMode="auto">
          <a:xfrm>
            <a:off x="2764820" y="3356992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5" name="Afrundet rektangel 44"/>
          <p:cNvSpPr/>
          <p:nvPr/>
        </p:nvSpPr>
        <p:spPr bwMode="auto">
          <a:xfrm>
            <a:off x="3491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</p:txBody>
      </p:sp>
      <p:sp>
        <p:nvSpPr>
          <p:cNvPr id="46" name="Kantet venstreparentes 45"/>
          <p:cNvSpPr/>
          <p:nvPr/>
        </p:nvSpPr>
        <p:spPr bwMode="auto">
          <a:xfrm rot="5400000">
            <a:off x="4499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Lige pilforbindelse 46"/>
          <p:cNvCxnSpPr>
            <a:stCxn id="45" idx="0"/>
            <a:endCxn id="8" idx="3"/>
          </p:cNvCxnSpPr>
          <p:nvPr/>
        </p:nvCxnSpPr>
        <p:spPr bwMode="auto">
          <a:xfrm flipH="1" flipV="1">
            <a:off x="4569619" y="4892451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10" name="Gruppe 3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Udfyld teksten under uddybning af kanterne.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Dokumentstruktur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83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INDHOLD</a:t>
            </a:r>
            <a:endParaRPr lang="da-DK" dirty="0"/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/>
                <a:gridCol w="108000"/>
                <a:gridCol w="6912000"/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1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[ Text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2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3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4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5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6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7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8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9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  <p:grpSp>
        <p:nvGrpSpPr>
          <p:cNvPr id="3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6" name="Rektangel 5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[ Tekst ] felterne med relevant indhold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Slet de overflødige rækker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Fyldfarven skal være hvid eller gennemsigtig for dem alle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Brug dette slide løbende i præsentationen som adskillelse (divider) mellem de forskellige afsnit/kapitler.</a:t>
              </a:r>
              <a:br>
                <a:rPr lang="da-DK" sz="1600" dirty="0" smtClean="0"/>
              </a:br>
              <a:r>
                <a:rPr lang="da-DK" sz="1600" dirty="0" smtClean="0"/>
                <a:t/>
              </a:r>
              <a:br>
                <a:rPr lang="da-DK" sz="1600" dirty="0" smtClean="0"/>
              </a:br>
              <a:r>
                <a:rPr lang="da-DK" sz="1600" dirty="0" smtClean="0"/>
                <a:t>Brug en grå fyld-farve bag tal og tekst på det aktuelle element du er på. Dette indikere fremdrift. Alle andre elementer skal være hvide eller gennemsigtige.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7" name="Rektangel 6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8" name="Rektangel 7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Ændringslog til dokumentet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85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739995"/>
              </p:ext>
            </p:extLst>
          </p:nvPr>
        </p:nvGraphicFramePr>
        <p:xfrm>
          <a:off x="720865" y="1700808"/>
          <a:ext cx="7644429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23"/>
                <a:gridCol w="1211741"/>
                <a:gridCol w="1211741"/>
                <a:gridCol w="3332289"/>
                <a:gridCol w="1817612"/>
                <a:gridCol w="35523"/>
              </a:tblGrid>
              <a:tr h="72000">
                <a:tc gridSpan="6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Date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Version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Changes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Responsible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sz="1000" dirty="0" smtClean="0"/>
                        <a:t>Notes: [ Add notes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Vælg det antal rækker du skal bruge. Slet herefter de rækker du ikke skal bruge. Bemærk at der løbende kan indsættes nye rækker efterhånden som der kommer ændringer til dokumentet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4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Tilpas eventuelt antallet eller indholdet i de enkelte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længden af kolonnerne med indhold så tabellen fylder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med indhold i tabellen. Brug gerne tal eller lignende</a:t>
                </a:r>
                <a:r>
                  <a:rPr lang="da-DK" sz="1100" dirty="0" smtClean="0"/>
                  <a:t>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7400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[ Agendapunkt – skriv navn som overskrift - DA ]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86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6" name="Tabel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4661"/>
              </p:ext>
            </p:extLst>
          </p:nvPr>
        </p:nvGraphicFramePr>
        <p:xfrm>
          <a:off x="827584" y="1699736"/>
          <a:ext cx="7695974" cy="440008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040148"/>
                <a:gridCol w="427826"/>
                <a:gridCol w="6228000"/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Topic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Heading for the agenda item – e.g. 4.1 Decision on … ]</a:t>
                      </a:r>
                      <a:endParaRPr lang="da-DK" sz="1200" b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 smtClean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Responsible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 smtClean="0"/>
                        <a:t>[ Name(s) and organisation of the presenter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Forum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 smtClean="0"/>
                        <a:t>State which meeting this is, plus the date and location. Be as precise as you can.</a:t>
                      </a:r>
                    </a:p>
                    <a:p>
                      <a:r>
                        <a:rPr lang="en-US" sz="1200" dirty="0" smtClean="0"/>
                        <a:t>For example: Leadership meeting in XX, 30 Jan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 smtClean="0"/>
                        <a:t>Type 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Decision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Information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Discussion/Request for input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Workshop/co-creation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Purpose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 smtClean="0"/>
                        <a:t>[ The purpose of the agenda item, in a sentence or two ]</a:t>
                      </a:r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2" name="Gruppe 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8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[ Tekst ] felterne med relevant indhold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de krydser der ikke skal være under type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eventuelt overflødige rækker</a:t>
                </a: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600" dirty="0" smtClean="0"/>
                  <a:t/>
                </a:r>
                <a:br>
                  <a:rPr lang="da-DK" sz="1600" dirty="0" smtClean="0"/>
                </a:br>
                <a:r>
                  <a:rPr lang="da-DK" sz="1600" dirty="0" smtClean="0"/>
                  <a:t>Siden bruges enten efter hvert enkelt agendapunkt i en løbende adskillelse eller (og primært) når der laves separat materiale til forskellige punkter. Ved at </a:t>
                </a:r>
                <a:r>
                  <a:rPr lang="da-DK" sz="1600" dirty="0" err="1" smtClean="0"/>
                  <a:t>habve</a:t>
                </a:r>
                <a:r>
                  <a:rPr lang="da-DK" sz="1600" dirty="0" smtClean="0"/>
                  <a:t> denne forside lettes overblikket når filerne åbnes (det skal være den første side) og når de printes.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30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Grå kasser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8653745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9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(2x1)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88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457309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42520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928687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2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(1x2)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89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455218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107352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2448083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4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Fire (2x2)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90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444158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642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(2+1)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91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9" name="Rektangel 48"/>
          <p:cNvSpPr/>
          <p:nvPr/>
        </p:nvSpPr>
        <p:spPr bwMode="auto">
          <a:xfrm>
            <a:off x="791580" y="4209318"/>
            <a:ext cx="766885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50" name="Rektangel 49"/>
          <p:cNvSpPr/>
          <p:nvPr/>
        </p:nvSpPr>
        <p:spPr bwMode="auto">
          <a:xfrm>
            <a:off x="791580" y="4022465"/>
            <a:ext cx="766885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51" name="Tekstboks 37"/>
          <p:cNvSpPr txBox="1"/>
          <p:nvPr/>
        </p:nvSpPr>
        <p:spPr>
          <a:xfrm>
            <a:off x="863587" y="6114201"/>
            <a:ext cx="58819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177374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9544458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0" name="think-cell Slide" r:id="rId21" imgW="360" imgH="360" progId="TCLayout.ActiveDocument.1">
                  <p:embed/>
                </p:oleObj>
              </mc:Choice>
              <mc:Fallback>
                <p:oleObj name="think-cell Slide" r:id="rId21" imgW="360" imgH="360" progId="TCLayout.ActiveDocument.1">
                  <p:embed/>
                  <p:pic>
                    <p:nvPicPr>
                      <p:cNvPr id="0" name="Picture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horisontale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92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751806" y="1712530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751806" y="1525676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779612" y="356280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7" name="Rektangel 36"/>
          <p:cNvSpPr/>
          <p:nvPr/>
        </p:nvSpPr>
        <p:spPr bwMode="auto">
          <a:xfrm>
            <a:off x="751806" y="4191918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38" name="Rektangel 37"/>
          <p:cNvSpPr/>
          <p:nvPr/>
        </p:nvSpPr>
        <p:spPr bwMode="auto">
          <a:xfrm>
            <a:off x="751806" y="4005064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39" name="Tekstboks 38"/>
          <p:cNvSpPr txBox="1"/>
          <p:nvPr/>
        </p:nvSpPr>
        <p:spPr>
          <a:xfrm>
            <a:off x="779612" y="6042193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cxnSp>
        <p:nvCxnSpPr>
          <p:cNvPr id="40" name="Lige forbindelse 39"/>
          <p:cNvCxnSpPr/>
          <p:nvPr>
            <p:custDataLst>
              <p:tags r:id="rId4"/>
            </p:custDataLst>
          </p:nvPr>
        </p:nvCxnSpPr>
        <p:spPr bwMode="auto">
          <a:xfrm flipV="1">
            <a:off x="1438275" y="2495550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Lige forbindelse 40"/>
          <p:cNvCxnSpPr/>
          <p:nvPr>
            <p:custDataLst>
              <p:tags r:id="rId5"/>
            </p:custDataLst>
          </p:nvPr>
        </p:nvCxnSpPr>
        <p:spPr bwMode="auto">
          <a:xfrm flipV="1">
            <a:off x="2238375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2" name="Objekt 41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624883904"/>
              </p:ext>
            </p:extLst>
          </p:nvPr>
        </p:nvGraphicFramePr>
        <p:xfrm>
          <a:off x="723900" y="1905000"/>
          <a:ext cx="2600241" cy="1543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1" name="Diagram" r:id="rId23" imgW="2600241" imgH="1543185" progId="MSGraph.Chart.8">
                  <p:embed followColorScheme="full"/>
                </p:oleObj>
              </mc:Choice>
              <mc:Fallback>
                <p:oleObj name="Diagram" r:id="rId23" imgW="2600241" imgH="1543185" progId="MSGraph.Chart.8">
                  <p:embed followColorScheme="full"/>
                  <p:pic>
                    <p:nvPicPr>
                      <p:cNvPr id="0" name="Picture 78"/>
                      <p:cNvPicPr>
                        <a:picLocks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1905000"/>
                        <a:ext cx="2600241" cy="15431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Lige forbindelse 42"/>
          <p:cNvCxnSpPr/>
          <p:nvPr>
            <p:custDataLst>
              <p:tags r:id="rId7"/>
            </p:custDataLst>
          </p:nvPr>
        </p:nvCxnSpPr>
        <p:spPr bwMode="auto">
          <a:xfrm flipV="1">
            <a:off x="1214438" y="1814513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4" name="Rektangel 43"/>
          <p:cNvSpPr/>
          <p:nvPr>
            <p:custDataLst>
              <p:tags r:id="rId8"/>
            </p:custDataLst>
          </p:nvPr>
        </p:nvSpPr>
        <p:spPr bwMode="auto">
          <a:xfrm>
            <a:off x="10620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5" name="Rektangel 44"/>
          <p:cNvSpPr/>
          <p:nvPr>
            <p:custDataLst>
              <p:tags r:id="rId9"/>
            </p:custDataLst>
          </p:nvPr>
        </p:nvSpPr>
        <p:spPr bwMode="auto">
          <a:xfrm>
            <a:off x="18621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6" name="Rektangel 45"/>
          <p:cNvSpPr/>
          <p:nvPr>
            <p:custDataLst>
              <p:tags r:id="rId10"/>
            </p:custDataLst>
          </p:nvPr>
        </p:nvSpPr>
        <p:spPr bwMode="auto">
          <a:xfrm>
            <a:off x="26622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7" name="Ellipse 46"/>
          <p:cNvSpPr/>
          <p:nvPr>
            <p:custDataLst>
              <p:tags r:id="rId11"/>
            </p:custDataLst>
          </p:nvPr>
        </p:nvSpPr>
        <p:spPr bwMode="auto">
          <a:xfrm>
            <a:off x="1566863" y="19589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8" name="Tekstboks 47"/>
          <p:cNvSpPr txBox="1"/>
          <p:nvPr/>
        </p:nvSpPr>
        <p:spPr>
          <a:xfrm>
            <a:off x="80327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49" name="Tekstfelt 55"/>
          <p:cNvSpPr txBox="1"/>
          <p:nvPr/>
        </p:nvSpPr>
        <p:spPr>
          <a:xfrm rot="19634656">
            <a:off x="957263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50" name="Lige forbindelse 49"/>
          <p:cNvCxnSpPr/>
          <p:nvPr>
            <p:custDataLst>
              <p:tags r:id="rId12"/>
            </p:custDataLst>
          </p:nvPr>
        </p:nvCxnSpPr>
        <p:spPr bwMode="auto">
          <a:xfrm flipV="1">
            <a:off x="1438275" y="4991100"/>
            <a:ext cx="352425" cy="2857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Lige forbindelse 50"/>
          <p:cNvCxnSpPr/>
          <p:nvPr>
            <p:custDataLst>
              <p:tags r:id="rId13"/>
            </p:custDataLst>
          </p:nvPr>
        </p:nvCxnSpPr>
        <p:spPr bwMode="auto">
          <a:xfrm flipV="1">
            <a:off x="2238375" y="472440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2" name="Objekt 51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197103768"/>
              </p:ext>
            </p:extLst>
          </p:nvPr>
        </p:nvGraphicFramePr>
        <p:xfrm>
          <a:off x="723900" y="4419600"/>
          <a:ext cx="2600241" cy="15145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2" name="Diagram" r:id="rId25" imgW="2600241" imgH="1514543" progId="MSGraph.Chart.8">
                  <p:embed followColorScheme="full"/>
                </p:oleObj>
              </mc:Choice>
              <mc:Fallback>
                <p:oleObj name="Diagram" r:id="rId25" imgW="2600241" imgH="1514543" progId="MSGraph.Chart.8">
                  <p:embed followColorScheme="full"/>
                  <p:pic>
                    <p:nvPicPr>
                      <p:cNvPr id="0" name="Picture 79"/>
                      <p:cNvPicPr>
                        <a:picLocks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4419600"/>
                        <a:ext cx="2600241" cy="15145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3" name="Lige forbindelse 52"/>
          <p:cNvCxnSpPr/>
          <p:nvPr>
            <p:custDataLst>
              <p:tags r:id="rId15"/>
            </p:custDataLst>
          </p:nvPr>
        </p:nvCxnSpPr>
        <p:spPr bwMode="auto">
          <a:xfrm flipV="1">
            <a:off x="1214438" y="4314825"/>
            <a:ext cx="1600200" cy="5524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4" name="Rektangel 53"/>
          <p:cNvSpPr/>
          <p:nvPr>
            <p:custDataLst>
              <p:tags r:id="rId16"/>
            </p:custDataLst>
          </p:nvPr>
        </p:nvSpPr>
        <p:spPr bwMode="auto">
          <a:xfrm>
            <a:off x="10620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6C53847-66D6-4FDD-A7C4-E638F573EACF}" type="datetime'2''''''0''''''''''1''''''''''''''4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5" name="Rektangel 54"/>
          <p:cNvSpPr/>
          <p:nvPr>
            <p:custDataLst>
              <p:tags r:id="rId17"/>
            </p:custDataLst>
          </p:nvPr>
        </p:nvSpPr>
        <p:spPr bwMode="auto">
          <a:xfrm>
            <a:off x="18621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1B98BB7B-AB69-4FFF-94A1-62AED134E2F7}" type="datetime'''''''''''''''''''''''''''''''''2''''0''''''''1''5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6" name="Rektangel 55"/>
          <p:cNvSpPr/>
          <p:nvPr>
            <p:custDataLst>
              <p:tags r:id="rId18"/>
            </p:custDataLst>
          </p:nvPr>
        </p:nvSpPr>
        <p:spPr bwMode="auto">
          <a:xfrm>
            <a:off x="26622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D14D4CDC-A2E1-4E00-A343-60FE7EC5B8B3}" type="datetime'''''2''''0''''''''''''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7" name="Ellipse 56"/>
          <p:cNvSpPr/>
          <p:nvPr>
            <p:custDataLst>
              <p:tags r:id="rId19"/>
            </p:custDataLst>
          </p:nvPr>
        </p:nvSpPr>
        <p:spPr bwMode="auto">
          <a:xfrm>
            <a:off x="1566863" y="445452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5B8F343-695A-4B82-8DD7-510C8108AD44}" type="datetime'''''''''''''''''''''''''''+''''''4''''''''''''''''''''''1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8" name="Tekstboks 57"/>
          <p:cNvSpPr txBox="1"/>
          <p:nvPr/>
        </p:nvSpPr>
        <p:spPr>
          <a:xfrm>
            <a:off x="803275" y="436245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59" name="Tekstfelt 55"/>
          <p:cNvSpPr txBox="1"/>
          <p:nvPr/>
        </p:nvSpPr>
        <p:spPr>
          <a:xfrm rot="19634656">
            <a:off x="957263" y="4984750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28995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958409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0" name="think-cell Slide" r:id="rId29" imgW="360" imgH="360" progId="TCLayout.ActiveDocument.1">
                  <p:embed/>
                </p:oleObj>
              </mc:Choice>
              <mc:Fallback>
                <p:oleObj name="think-cell Slide" r:id="rId29" imgW="360" imgH="360" progId="TCLayout.ActiveDocument.1">
                  <p:embed/>
                  <p:pic>
                    <p:nvPicPr>
                      <p:cNvPr id="0" name="Picture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93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467544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467544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516632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Rektangel 46"/>
          <p:cNvSpPr/>
          <p:nvPr/>
        </p:nvSpPr>
        <p:spPr bwMode="auto">
          <a:xfrm>
            <a:off x="332528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48" name="Rektangel 47"/>
          <p:cNvSpPr/>
          <p:nvPr/>
        </p:nvSpPr>
        <p:spPr bwMode="auto">
          <a:xfrm>
            <a:off x="332528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46" name="Tekstboks 45"/>
          <p:cNvSpPr txBox="1"/>
          <p:nvPr/>
        </p:nvSpPr>
        <p:spPr>
          <a:xfrm>
            <a:off x="337437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sp>
        <p:nvSpPr>
          <p:cNvPr id="52" name="Rektangel 51"/>
          <p:cNvSpPr/>
          <p:nvPr/>
        </p:nvSpPr>
        <p:spPr bwMode="auto">
          <a:xfrm>
            <a:off x="614309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53" name="Rektangel 52"/>
          <p:cNvSpPr/>
          <p:nvPr/>
        </p:nvSpPr>
        <p:spPr bwMode="auto">
          <a:xfrm>
            <a:off x="614309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51" name="Tekstboks 50"/>
          <p:cNvSpPr txBox="1"/>
          <p:nvPr/>
        </p:nvSpPr>
        <p:spPr>
          <a:xfrm>
            <a:off x="619218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cxnSp>
        <p:nvCxnSpPr>
          <p:cNvPr id="54" name="Lige forbindelse 53"/>
          <p:cNvCxnSpPr/>
          <p:nvPr>
            <p:custDataLst>
              <p:tags r:id="rId4"/>
            </p:custDataLst>
          </p:nvPr>
        </p:nvCxnSpPr>
        <p:spPr bwMode="auto">
          <a:xfrm flipV="1">
            <a:off x="1238250" y="2724150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5" name="Lige forbindelse 54"/>
          <p:cNvCxnSpPr/>
          <p:nvPr>
            <p:custDataLst>
              <p:tags r:id="rId5"/>
            </p:custDataLst>
          </p:nvPr>
        </p:nvCxnSpPr>
        <p:spPr bwMode="auto">
          <a:xfrm flipV="1">
            <a:off x="2028825" y="2419350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6" name="Objekt 55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507299807"/>
              </p:ext>
            </p:extLst>
          </p:nvPr>
        </p:nvGraphicFramePr>
        <p:xfrm>
          <a:off x="495299" y="2095500"/>
          <a:ext cx="2619392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1" name="Diagram" r:id="rId31" imgW="2619392" imgH="1676400" progId="MSGraph.Chart.8">
                  <p:embed followColorScheme="full"/>
                </p:oleObj>
              </mc:Choice>
              <mc:Fallback>
                <p:oleObj name="Diagram" r:id="rId31" imgW="2619392" imgH="1676400" progId="MSGraph.Chart.8">
                  <p:embed followColorScheme="full"/>
                  <p:pic>
                    <p:nvPicPr>
                      <p:cNvPr id="0" name="Picture 103"/>
                      <p:cNvPicPr>
                        <a:picLocks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299" y="2095500"/>
                        <a:ext cx="2619392" cy="167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Lige forbindelse 56"/>
          <p:cNvCxnSpPr/>
          <p:nvPr>
            <p:custDataLst>
              <p:tags r:id="rId7"/>
            </p:custDataLst>
          </p:nvPr>
        </p:nvCxnSpPr>
        <p:spPr bwMode="auto">
          <a:xfrm flipV="1">
            <a:off x="1014413" y="2009775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8" name="Rektangel 57"/>
          <p:cNvSpPr/>
          <p:nvPr>
            <p:custDataLst>
              <p:tags r:id="rId8"/>
            </p:custDataLst>
          </p:nvPr>
        </p:nvSpPr>
        <p:spPr bwMode="auto">
          <a:xfrm>
            <a:off x="8620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95325C97-10D6-4034-83C5-11EF445BD48C}" type="datetime'''''''''''''''''''''''''''''''2''''''''''''''''''''''0''1''4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9" name="Rektangel 58"/>
          <p:cNvSpPr/>
          <p:nvPr>
            <p:custDataLst>
              <p:tags r:id="rId9"/>
            </p:custDataLst>
          </p:nvPr>
        </p:nvSpPr>
        <p:spPr bwMode="auto">
          <a:xfrm>
            <a:off x="1657350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F2B12F78-4747-4E7A-8CA8-4390350B83D8}" type="datetime'''''''''''''''2''''''''0''''''''''''''''15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0" name="Rektangel 59"/>
          <p:cNvSpPr/>
          <p:nvPr>
            <p:custDataLst>
              <p:tags r:id="rId10"/>
            </p:custDataLst>
          </p:nvPr>
        </p:nvSpPr>
        <p:spPr bwMode="auto">
          <a:xfrm>
            <a:off x="2452688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27CFA869-BEFD-4AD3-97AD-94C9C3DFE082}" type="datetime'''''2''''''01''''''''''''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1" name="Ellipse 60"/>
          <p:cNvSpPr/>
          <p:nvPr>
            <p:custDataLst>
              <p:tags r:id="rId11"/>
            </p:custDataLst>
          </p:nvPr>
        </p:nvSpPr>
        <p:spPr bwMode="auto">
          <a:xfrm>
            <a:off x="1362075" y="21875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11F3B50D-1E73-4A70-9E8A-6858CF164FA1}" type="datetime'''+''''''''''''''''''4''''''''''1%''''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2" name="Tekstboks 61"/>
          <p:cNvSpPr txBox="1"/>
          <p:nvPr/>
        </p:nvSpPr>
        <p:spPr>
          <a:xfrm>
            <a:off x="594184" y="2065784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63" name="Tekstfelt 55"/>
          <p:cNvSpPr txBox="1"/>
          <p:nvPr/>
        </p:nvSpPr>
        <p:spPr>
          <a:xfrm rot="19634656">
            <a:off x="7477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64" name="Lige forbindelse 63"/>
          <p:cNvCxnSpPr/>
          <p:nvPr>
            <p:custDataLst>
              <p:tags r:id="rId12"/>
            </p:custDataLst>
          </p:nvPr>
        </p:nvCxnSpPr>
        <p:spPr bwMode="auto">
          <a:xfrm flipV="1">
            <a:off x="4057650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65" name="Lige forbindelse 64"/>
          <p:cNvCxnSpPr/>
          <p:nvPr>
            <p:custDataLst>
              <p:tags r:id="rId13"/>
            </p:custDataLst>
          </p:nvPr>
        </p:nvCxnSpPr>
        <p:spPr bwMode="auto">
          <a:xfrm flipV="1">
            <a:off x="485775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6" name="Objekt 65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702452298"/>
              </p:ext>
            </p:extLst>
          </p:nvPr>
        </p:nvGraphicFramePr>
        <p:xfrm>
          <a:off x="3314701" y="2095500"/>
          <a:ext cx="2628833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2" name="Diagram" r:id="rId33" imgW="2628833" imgH="1666943" progId="MSGraph.Chart.8">
                  <p:embed followColorScheme="full"/>
                </p:oleObj>
              </mc:Choice>
              <mc:Fallback>
                <p:oleObj name="Diagram" r:id="rId33" imgW="2628833" imgH="1666943" progId="MSGraph.Chart.8">
                  <p:embed followColorScheme="full"/>
                  <p:pic>
                    <p:nvPicPr>
                      <p:cNvPr id="0" name="Picture 104"/>
                      <p:cNvPicPr>
                        <a:picLocks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1" y="2095500"/>
                        <a:ext cx="2628833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7" name="Lige forbindelse 66"/>
          <p:cNvCxnSpPr/>
          <p:nvPr>
            <p:custDataLst>
              <p:tags r:id="rId15"/>
            </p:custDataLst>
          </p:nvPr>
        </p:nvCxnSpPr>
        <p:spPr bwMode="auto">
          <a:xfrm flipV="1">
            <a:off x="3833813" y="2000250"/>
            <a:ext cx="1600200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8" name="Rektangel 67"/>
          <p:cNvSpPr/>
          <p:nvPr>
            <p:custDataLst>
              <p:tags r:id="rId16"/>
            </p:custDataLst>
          </p:nvPr>
        </p:nvSpPr>
        <p:spPr bwMode="auto">
          <a:xfrm>
            <a:off x="36814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18FB085-4184-402C-B9EE-A612A9B49364}" type="datetime'''''''''''''''2''''''''0''1''4''''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9" name="Rektangel 68"/>
          <p:cNvSpPr/>
          <p:nvPr>
            <p:custDataLst>
              <p:tags r:id="rId17"/>
            </p:custDataLst>
          </p:nvPr>
        </p:nvSpPr>
        <p:spPr bwMode="auto">
          <a:xfrm>
            <a:off x="44815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4468FC1-8CCD-4346-9F23-EF40B18F7E32}" type="datetime'''2''''''''''''''''''''0''''''15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0" name="Rektangel 69"/>
          <p:cNvSpPr/>
          <p:nvPr>
            <p:custDataLst>
              <p:tags r:id="rId18"/>
            </p:custDataLst>
          </p:nvPr>
        </p:nvSpPr>
        <p:spPr bwMode="auto">
          <a:xfrm>
            <a:off x="52816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EEB58DAB-C8AF-4AB9-AB34-42E96DB1F3D6}" type="datetime'''''''''''''''''''''''''2''''''0''''''1''''''''''''''''6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1" name="Ellipse 70"/>
          <p:cNvSpPr/>
          <p:nvPr>
            <p:custDataLst>
              <p:tags r:id="rId19"/>
            </p:custDataLst>
          </p:nvPr>
        </p:nvSpPr>
        <p:spPr bwMode="auto">
          <a:xfrm>
            <a:off x="4186238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9F4B27D9-DD55-4C59-866A-A24DE9A6027A}" type="datetime'''''''''''''''''+''''''4''''''''1%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2" name="Tekstboks 71"/>
          <p:cNvSpPr txBox="1"/>
          <p:nvPr/>
        </p:nvSpPr>
        <p:spPr>
          <a:xfrm>
            <a:off x="3419475" y="206057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73" name="Tekstfelt 55"/>
          <p:cNvSpPr txBox="1"/>
          <p:nvPr/>
        </p:nvSpPr>
        <p:spPr>
          <a:xfrm rot="19634656">
            <a:off x="3230195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74" name="Lige forbindelse 73"/>
          <p:cNvCxnSpPr/>
          <p:nvPr>
            <p:custDataLst>
              <p:tags r:id="rId20"/>
            </p:custDataLst>
          </p:nvPr>
        </p:nvCxnSpPr>
        <p:spPr bwMode="auto">
          <a:xfrm flipV="1">
            <a:off x="6943725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/>
          <p:nvPr>
            <p:custDataLst>
              <p:tags r:id="rId21"/>
            </p:custDataLst>
          </p:nvPr>
        </p:nvCxnSpPr>
        <p:spPr bwMode="auto">
          <a:xfrm flipV="1">
            <a:off x="773430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76" name="Objekt 75"/>
          <p:cNvGraphicFramePr>
            <a:graphicFrameLocks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1811791822"/>
              </p:ext>
            </p:extLst>
          </p:nvPr>
        </p:nvGraphicFramePr>
        <p:xfrm>
          <a:off x="6210300" y="2095500"/>
          <a:ext cx="2609951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3" name="Diagram" r:id="rId35" imgW="2609951" imgH="1666943" progId="MSGraph.Chart.8">
                  <p:embed followColorScheme="full"/>
                </p:oleObj>
              </mc:Choice>
              <mc:Fallback>
                <p:oleObj name="Diagram" r:id="rId35" imgW="2609951" imgH="1666943" progId="MSGraph.Chart.8">
                  <p:embed followColorScheme="full"/>
                  <p:pic>
                    <p:nvPicPr>
                      <p:cNvPr id="0" name="Picture 105"/>
                      <p:cNvPicPr>
                        <a:picLocks noChangeArrowheads="1"/>
                      </p:cNvPicPr>
                      <p:nvPr/>
                    </p:nvPicPr>
                    <p:blipFill>
                      <a:blip r:embed="rId3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10300" y="2095500"/>
                        <a:ext cx="2609951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7" name="Lige forbindelse 76"/>
          <p:cNvCxnSpPr/>
          <p:nvPr>
            <p:custDataLst>
              <p:tags r:id="rId23"/>
            </p:custDataLst>
          </p:nvPr>
        </p:nvCxnSpPr>
        <p:spPr bwMode="auto">
          <a:xfrm flipV="1">
            <a:off x="6719888" y="2000250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78" name="Rektangel 77"/>
          <p:cNvSpPr/>
          <p:nvPr>
            <p:custDataLst>
              <p:tags r:id="rId24"/>
            </p:custDataLst>
          </p:nvPr>
        </p:nvSpPr>
        <p:spPr bwMode="auto">
          <a:xfrm>
            <a:off x="6567488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571349F-0ACF-4CF6-B379-EAE1FE90DA50}" type="datetime'''''''''''''''''''''''''''''''''''2''''''''''0''1''''''4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9" name="Rektangel 78"/>
          <p:cNvSpPr/>
          <p:nvPr>
            <p:custDataLst>
              <p:tags r:id="rId25"/>
            </p:custDataLst>
          </p:nvPr>
        </p:nvSpPr>
        <p:spPr bwMode="auto">
          <a:xfrm>
            <a:off x="7362825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46E32B8D-EC65-4AB3-993D-729D736E8F91}" type="datetime'2''0''1''''''''''''''5''''''''''''''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0" name="Rektangel 79"/>
          <p:cNvSpPr/>
          <p:nvPr>
            <p:custDataLst>
              <p:tags r:id="rId26"/>
            </p:custDataLst>
          </p:nvPr>
        </p:nvSpPr>
        <p:spPr bwMode="auto">
          <a:xfrm>
            <a:off x="8158163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5401CC1-ECBD-43BD-A54B-E7D51296E55E}" type="datetime'''2''''''''''''''''0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1" name="Ellipse 80"/>
          <p:cNvSpPr/>
          <p:nvPr>
            <p:custDataLst>
              <p:tags r:id="rId27"/>
            </p:custDataLst>
          </p:nvPr>
        </p:nvSpPr>
        <p:spPr bwMode="auto">
          <a:xfrm>
            <a:off x="7067550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87944587-AD2F-4A1E-A71B-745EFDDE6ED2}" type="datetime'+''''''''''''''''''''''''''''4''''''''''''''1''%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2" name="Tekstboks 81"/>
          <p:cNvSpPr txBox="1"/>
          <p:nvPr/>
        </p:nvSpPr>
        <p:spPr>
          <a:xfrm>
            <a:off x="6296025" y="205422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83" name="Tekstfelt 55"/>
          <p:cNvSpPr txBox="1"/>
          <p:nvPr/>
        </p:nvSpPr>
        <p:spPr>
          <a:xfrm rot="19634656">
            <a:off x="6107113" y="268128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775860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e 23"/>
          <p:cNvGrpSpPr/>
          <p:nvPr/>
        </p:nvGrpSpPr>
        <p:grpSpPr>
          <a:xfrm>
            <a:off x="899592" y="158535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1" name="Pentagon 10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3" name="Rektangel 12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 smtClean="0"/>
                <a:t>[ Heading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" name="Gruppe 23"/>
          <p:cNvGrpSpPr/>
          <p:nvPr/>
        </p:nvGrpSpPr>
        <p:grpSpPr>
          <a:xfrm>
            <a:off x="899592" y="3169526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9" name="Rektangel 28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 smtClean="0"/>
                <a:t>[ Heading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" name="Gruppe 23"/>
          <p:cNvGrpSpPr/>
          <p:nvPr/>
        </p:nvGrpSpPr>
        <p:grpSpPr>
          <a:xfrm>
            <a:off x="899592" y="475370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32" name="Pentagon 3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 smtClean="0"/>
                <a:t>[ Heading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3" name="Lige forbindelse 32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9" name="Objekt 8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666" name="think-cell Slide" r:id="rId5" imgW="270" imgH="270" progId="TCLayout.ActiveDocument.1">
                  <p:embed/>
                </p:oleObj>
              </mc:Choice>
              <mc:Fallback>
                <p:oleObj name="think-cell Slide" r:id="rId5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Rektangel 42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endParaRPr kumimoji="0" lang="da-DK" sz="1000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Rektangel 6"/>
          <p:cNvSpPr/>
          <p:nvPr/>
        </p:nvSpPr>
        <p:spPr bwMode="auto">
          <a:xfrm>
            <a:off x="5076056" y="1772205"/>
            <a:ext cx="3816424" cy="4501083"/>
          </a:xfrm>
          <a:prstGeom prst="rect">
            <a:avLst/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54000" rIns="36000" bIns="54000" numCol="1" rtlCol="0" anchor="t" anchorCtr="0" compatLnSpc="1">
            <a:prstTxWarp prst="textNoShape">
              <a:avLst/>
            </a:prstTxWarp>
          </a:bodyPr>
          <a:lstStyle/>
          <a:p>
            <a:pPr marL="176213" indent="-176213" defTabSz="652463">
              <a:buFont typeface="Wingdings" pitchFamily="2" charset="2"/>
              <a:buChar char="§"/>
              <a:defRPr/>
            </a:pPr>
            <a:endParaRPr lang="da-DK" sz="60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endParaRPr lang="da-DK" sz="95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r>
              <a:rPr lang="en-US" sz="950" b="1" dirty="0" smtClean="0">
                <a:solidFill>
                  <a:srgbClr val="000000"/>
                </a:solidFill>
              </a:rPr>
              <a:t>[ Heading ]</a:t>
            </a:r>
          </a:p>
          <a:p>
            <a:pPr marL="176213" indent="-176213" defTabSz="652463">
              <a:buFont typeface="Wingdings" pitchFamily="2" charset="2"/>
              <a:buChar char="§"/>
              <a:defRPr/>
            </a:pPr>
            <a:r>
              <a:rPr lang="en-US" sz="950" dirty="0" smtClean="0">
                <a:solidFill>
                  <a:srgbClr val="000000"/>
                </a:solidFill>
              </a:rPr>
              <a:t>[ Bullet ]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5076056" y="1585351"/>
            <a:ext cx="3816424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100" b="1" dirty="0" smtClean="0">
                <a:solidFill>
                  <a:schemeClr val="bg1"/>
                </a:solidFill>
              </a:rPr>
              <a:t>[ Heading, up to two lines ]</a:t>
            </a:r>
            <a:endParaRPr lang="da-DK" sz="1100" b="1" dirty="0">
              <a:solidFill>
                <a:schemeClr val="bg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Tre kasser med pile mod én grå kasse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37" name="Ellipse 36"/>
          <p:cNvSpPr/>
          <p:nvPr/>
        </p:nvSpPr>
        <p:spPr bwMode="auto">
          <a:xfrm>
            <a:off x="755576" y="155679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1</a:t>
            </a:r>
          </a:p>
        </p:txBody>
      </p:sp>
      <p:sp>
        <p:nvSpPr>
          <p:cNvPr id="38" name="Ellipse 37"/>
          <p:cNvSpPr/>
          <p:nvPr/>
        </p:nvSpPr>
        <p:spPr bwMode="auto">
          <a:xfrm>
            <a:off x="755576" y="314096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200" b="1" dirty="0" smtClean="0">
                <a:solidFill>
                  <a:schemeClr val="bg1"/>
                </a:solidFill>
              </a:rPr>
              <a:t>2</a:t>
            </a:r>
            <a:endParaRPr kumimoji="0" lang="da-DK" sz="1200" b="1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9" name="Ellipse 38"/>
          <p:cNvSpPr/>
          <p:nvPr/>
        </p:nvSpPr>
        <p:spPr bwMode="auto">
          <a:xfrm>
            <a:off x="755576" y="472514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3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99592" y="3012603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 smtClean="0"/>
              <a:t>Source: [ Add source ]</a:t>
            </a:r>
          </a:p>
        </p:txBody>
      </p:sp>
      <p:sp>
        <p:nvSpPr>
          <p:cNvPr id="164" name="Tekstboks 163"/>
          <p:cNvSpPr txBox="1"/>
          <p:nvPr/>
        </p:nvSpPr>
        <p:spPr>
          <a:xfrm>
            <a:off x="899592" y="6180955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 smtClean="0"/>
              <a:t>Source: [ Add source ]</a:t>
            </a:r>
          </a:p>
        </p:txBody>
      </p:sp>
      <p:sp>
        <p:nvSpPr>
          <p:cNvPr id="128" name="Tekstboks 127"/>
          <p:cNvSpPr txBox="1"/>
          <p:nvPr/>
        </p:nvSpPr>
        <p:spPr>
          <a:xfrm>
            <a:off x="899592" y="4596779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 smtClean="0"/>
              <a:t>Source: [ Add source ]</a:t>
            </a:r>
          </a:p>
        </p:txBody>
      </p:sp>
      <p:sp>
        <p:nvSpPr>
          <p:cNvPr id="10" name="Tekstfelt 9"/>
          <p:cNvSpPr txBox="1"/>
          <p:nvPr/>
        </p:nvSpPr>
        <p:spPr>
          <a:xfrm>
            <a:off x="2591370" y="504915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 smtClean="0"/>
              <a:t>[ Notes ]</a:t>
            </a:r>
          </a:p>
        </p:txBody>
      </p:sp>
      <p:sp>
        <p:nvSpPr>
          <p:cNvPr id="52" name="Tekstboks 51"/>
          <p:cNvSpPr txBox="1"/>
          <p:nvPr/>
        </p:nvSpPr>
        <p:spPr>
          <a:xfrm>
            <a:off x="899592" y="6525344"/>
            <a:ext cx="576064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 [ Add a note ]</a:t>
            </a:r>
          </a:p>
        </p:txBody>
      </p:sp>
      <p:sp>
        <p:nvSpPr>
          <p:cNvPr id="53" name="Rektangel 52"/>
          <p:cNvSpPr/>
          <p:nvPr/>
        </p:nvSpPr>
        <p:spPr bwMode="auto">
          <a:xfrm>
            <a:off x="1043608" y="504915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4" name="Tekstfelt 9"/>
          <p:cNvSpPr txBox="1"/>
          <p:nvPr/>
        </p:nvSpPr>
        <p:spPr>
          <a:xfrm>
            <a:off x="2591370" y="346497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 smtClean="0"/>
              <a:t>[ Notes ]</a:t>
            </a:r>
          </a:p>
        </p:txBody>
      </p:sp>
      <p:sp>
        <p:nvSpPr>
          <p:cNvPr id="55" name="Rektangel 54"/>
          <p:cNvSpPr/>
          <p:nvPr/>
        </p:nvSpPr>
        <p:spPr bwMode="auto">
          <a:xfrm>
            <a:off x="1043608" y="346497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6" name="Tekstfelt 9"/>
          <p:cNvSpPr txBox="1"/>
          <p:nvPr/>
        </p:nvSpPr>
        <p:spPr>
          <a:xfrm>
            <a:off x="2591370" y="188080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 smtClean="0"/>
              <a:t>[ Notes ]</a:t>
            </a:r>
          </a:p>
        </p:txBody>
      </p:sp>
      <p:sp>
        <p:nvSpPr>
          <p:cNvPr id="57" name="Rektangel 56"/>
          <p:cNvSpPr/>
          <p:nvPr/>
        </p:nvSpPr>
        <p:spPr bwMode="auto">
          <a:xfrm>
            <a:off x="1043608" y="188080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grpSp>
        <p:nvGrpSpPr>
          <p:cNvPr id="35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1" name="Rektangel 4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fire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på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kilde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siden bruges skal det fjernes</a:t>
                </a:r>
              </a:p>
            </p:txBody>
          </p:sp>
          <p:sp>
            <p:nvSpPr>
              <p:cNvPr id="42" name="Rektangel 4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0" name="Rektangel 3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1973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450872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2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21" name="Rektangel 20"/>
          <p:cNvSpPr/>
          <p:nvPr/>
        </p:nvSpPr>
        <p:spPr bwMode="auto">
          <a:xfrm>
            <a:off x="4716016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16016" y="1477368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95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4" name="Tekstboks 3"/>
          <p:cNvSpPr txBox="1"/>
          <p:nvPr/>
        </p:nvSpPr>
        <p:spPr>
          <a:xfrm>
            <a:off x="4738598" y="5967082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3708412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1638300" y="2752725"/>
            <a:ext cx="4476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2638425" y="2419350"/>
            <a:ext cx="4476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74566550"/>
              </p:ext>
            </p:extLst>
          </p:nvPr>
        </p:nvGraphicFramePr>
        <p:xfrm>
          <a:off x="761999" y="2095500"/>
          <a:ext cx="3228992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3" name="Diagram" r:id="rId15" imgW="3228992" imgH="1809885" progId="MSGraph.Chart.8">
                  <p:embed followColorScheme="full"/>
                </p:oleObj>
              </mc:Choice>
              <mc:Fallback>
                <p:oleObj name="Diagram" r:id="rId15" imgW="3228992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1999" y="2095500"/>
                        <a:ext cx="3228992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1357313" y="2005013"/>
            <a:ext cx="2009775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6" name="Rektangel 15"/>
          <p:cNvSpPr/>
          <p:nvPr>
            <p:custDataLst>
              <p:tags r:id="rId8"/>
            </p:custDataLst>
          </p:nvPr>
        </p:nvSpPr>
        <p:spPr bwMode="auto">
          <a:xfrm>
            <a:off x="1204913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26" name="Rektangel 25"/>
          <p:cNvSpPr/>
          <p:nvPr>
            <p:custDataLst>
              <p:tags r:id="rId9"/>
            </p:custDataLst>
          </p:nvPr>
        </p:nvSpPr>
        <p:spPr bwMode="auto">
          <a:xfrm>
            <a:off x="220980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0"/>
            </p:custDataLst>
          </p:nvPr>
        </p:nvSpPr>
        <p:spPr bwMode="auto">
          <a:xfrm>
            <a:off x="3214688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1"/>
            </p:custDataLst>
          </p:nvPr>
        </p:nvSpPr>
        <p:spPr bwMode="auto">
          <a:xfrm>
            <a:off x="191452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95457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18136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6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7740860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En kasse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96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7740860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2771775" y="2752725"/>
            <a:ext cx="10953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5238750" y="2419350"/>
            <a:ext cx="10953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3080189636"/>
              </p:ext>
            </p:extLst>
          </p:nvPr>
        </p:nvGraphicFramePr>
        <p:xfrm>
          <a:off x="762000" y="2095500"/>
          <a:ext cx="7600849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7" name="Diagram" r:id="rId15" imgW="7600849" imgH="1809885" progId="MSGraph.Chart.8">
                  <p:embed followColorScheme="full"/>
                </p:oleObj>
              </mc:Choice>
              <mc:Fallback>
                <p:oleObj name="Diagram" r:id="rId15" imgW="7600849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095500"/>
                        <a:ext cx="7600849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2085975" y="2005013"/>
            <a:ext cx="4933950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6" name="Rektangel 25"/>
          <p:cNvSpPr/>
          <p:nvPr>
            <p:custDataLst>
              <p:tags r:id="rId8"/>
            </p:custDataLst>
          </p:nvPr>
        </p:nvSpPr>
        <p:spPr bwMode="auto">
          <a:xfrm>
            <a:off x="440055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6" name="Rektangel 15"/>
          <p:cNvSpPr/>
          <p:nvPr>
            <p:custDataLst>
              <p:tags r:id="rId9"/>
            </p:custDataLst>
          </p:nvPr>
        </p:nvSpPr>
        <p:spPr bwMode="auto">
          <a:xfrm>
            <a:off x="193357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0"/>
            </p:custDataLst>
          </p:nvPr>
        </p:nvSpPr>
        <p:spPr bwMode="auto">
          <a:xfrm>
            <a:off x="410527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1"/>
            </p:custDataLst>
          </p:nvPr>
        </p:nvSpPr>
        <p:spPr bwMode="auto">
          <a:xfrm>
            <a:off x="686752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3158295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Markeringer, stempler m.m.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Markeringer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98</a:t>
            </a:fld>
            <a:endParaRPr lang="da-DK" noProof="0"/>
          </a:p>
        </p:txBody>
      </p:sp>
      <p:pic>
        <p:nvPicPr>
          <p:cNvPr id="5" name="Ink 8"/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628800"/>
            <a:ext cx="1470100" cy="1389698"/>
          </a:xfrm>
          <a:prstGeom prst="rect">
            <a:avLst/>
          </a:prstGeom>
        </p:spPr>
      </p:pic>
      <p:pic>
        <p:nvPicPr>
          <p:cNvPr id="7" name="Ink 5"/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3568" y="3140968"/>
            <a:ext cx="8191499" cy="1527175"/>
          </a:xfrm>
          <a:prstGeom prst="rect">
            <a:avLst/>
          </a:prstGeom>
        </p:spPr>
      </p:pic>
      <p:pic>
        <p:nvPicPr>
          <p:cNvPr id="9" name="Ink 3"/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627784" y="1484784"/>
            <a:ext cx="3011719" cy="1364030"/>
          </a:xfrm>
          <a:prstGeom prst="rect">
            <a:avLst/>
          </a:prstGeom>
        </p:spPr>
      </p:pic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Stempler og lignende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99</a:t>
            </a:fld>
            <a:endParaRPr lang="da-DK" noProof="0"/>
          </a:p>
        </p:txBody>
      </p:sp>
      <p:grpSp>
        <p:nvGrpSpPr>
          <p:cNvPr id="5" name="Group 27"/>
          <p:cNvGrpSpPr>
            <a:grpSpLocks/>
          </p:cNvGrpSpPr>
          <p:nvPr/>
        </p:nvGrpSpPr>
        <p:grpSpPr bwMode="auto">
          <a:xfrm rot="-1743360">
            <a:off x="820970" y="2068916"/>
            <a:ext cx="2017713" cy="792163"/>
            <a:chOff x="3696" y="346"/>
            <a:chExt cx="1271" cy="499"/>
          </a:xfrm>
        </p:grpSpPr>
        <p:sp>
          <p:nvSpPr>
            <p:cNvPr id="6" name="Oval 28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 dirty="0" smtClean="0">
                  <a:latin typeface="Arial" charset="0"/>
                </a:rPr>
                <a:t>Confidential</a:t>
              </a:r>
              <a:endParaRPr lang="da-DK" sz="1800" b="1" dirty="0">
                <a:latin typeface="Arial" charset="0"/>
              </a:endParaRPr>
            </a:p>
          </p:txBody>
        </p:sp>
      </p:grpSp>
      <p:grpSp>
        <p:nvGrpSpPr>
          <p:cNvPr id="8" name="Group 4"/>
          <p:cNvGrpSpPr>
            <a:grpSpLocks/>
          </p:cNvGrpSpPr>
          <p:nvPr/>
        </p:nvGrpSpPr>
        <p:grpSpPr bwMode="auto">
          <a:xfrm rot="2101131">
            <a:off x="2816449" y="2136023"/>
            <a:ext cx="2017713" cy="792163"/>
            <a:chOff x="3696" y="346"/>
            <a:chExt cx="1271" cy="499"/>
          </a:xfrm>
        </p:grpSpPr>
        <p:sp>
          <p:nvSpPr>
            <p:cNvPr id="9" name="Oval 5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>
                  <a:solidFill>
                    <a:srgbClr val="FF3300"/>
                  </a:solidFill>
                  <a:latin typeface="Arial" charset="0"/>
                </a:rPr>
                <a:t>Draft</a:t>
              </a:r>
            </a:p>
          </p:txBody>
        </p:sp>
      </p:grpSp>
      <p:grpSp>
        <p:nvGrpSpPr>
          <p:cNvPr id="15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6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6009579" y="1340768"/>
            <a:ext cx="1656184" cy="288032"/>
            <a:chOff x="6012160" y="1340768"/>
            <a:chExt cx="1656184" cy="288032"/>
          </a:xfrm>
        </p:grpSpPr>
        <p:sp>
          <p:nvSpPr>
            <p:cNvPr id="3" name="Rektangel 2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Confidential</a:t>
              </a: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Lige forbindelse 20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5" name="Gruppe 24"/>
          <p:cNvGrpSpPr/>
          <p:nvPr/>
        </p:nvGrpSpPr>
        <p:grpSpPr>
          <a:xfrm>
            <a:off x="6009579" y="1822514"/>
            <a:ext cx="2353157" cy="324616"/>
            <a:chOff x="6012160" y="1340768"/>
            <a:chExt cx="1656184" cy="288032"/>
          </a:xfrm>
        </p:grpSpPr>
        <p:sp>
          <p:nvSpPr>
            <p:cNvPr id="26" name="Rektangel 25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 smtClean="0"/>
                <a:t>Discussion paper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7" name="Lige forbindelse 26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Lige forbindelse 27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3" name="Gruppe 32"/>
          <p:cNvGrpSpPr/>
          <p:nvPr/>
        </p:nvGrpSpPr>
        <p:grpSpPr>
          <a:xfrm>
            <a:off x="6003232" y="2348880"/>
            <a:ext cx="2353157" cy="324616"/>
            <a:chOff x="6012160" y="1340768"/>
            <a:chExt cx="1656184" cy="288032"/>
          </a:xfrm>
        </p:grpSpPr>
        <p:sp>
          <p:nvSpPr>
            <p:cNvPr id="34" name="Rektangel 33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 smtClean="0"/>
                <a:t>Working document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5" name="Lige forbindelse 34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Lige forbindelse 35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9" name="Rektangel 28"/>
          <p:cNvSpPr/>
          <p:nvPr/>
        </p:nvSpPr>
        <p:spPr bwMode="auto">
          <a:xfrm>
            <a:off x="827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 smtClean="0"/>
              <a:t>Kicker</a:t>
            </a:r>
            <a:r>
              <a:rPr lang="da-DK" sz="1200" dirty="0" smtClean="0"/>
              <a:t> </a:t>
            </a:r>
            <a:r>
              <a:rPr lang="da-DK" sz="1200" dirty="0" err="1" smtClean="0"/>
              <a:t>box</a:t>
            </a:r>
            <a:r>
              <a:rPr lang="da-DK" sz="1200" dirty="0" smtClean="0"/>
              <a:t>: </a:t>
            </a:r>
            <a:r>
              <a:rPr lang="da-DK" sz="1200" dirty="0" err="1" smtClean="0"/>
              <a:t>Lorem</a:t>
            </a:r>
            <a:r>
              <a:rPr lang="da-DK" sz="1200" dirty="0" smtClean="0"/>
              <a:t> </a:t>
            </a:r>
            <a:r>
              <a:rPr lang="da-DK" sz="1200" dirty="0" err="1" smtClean="0"/>
              <a:t>ipsum.l</a:t>
            </a:r>
            <a:r>
              <a:rPr lang="da-DK" sz="1200" dirty="0" smtClean="0"/>
              <a:t> </a:t>
            </a:r>
            <a:r>
              <a:rPr lang="da-DK" sz="1200" dirty="0" err="1" smtClean="0"/>
              <a:t>ælkjfa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fæ </a:t>
            </a:r>
            <a:r>
              <a:rPr lang="da-DK" sz="1200" dirty="0" err="1" smtClean="0"/>
              <a:t>ælkfa</a:t>
            </a:r>
            <a:r>
              <a:rPr lang="da-DK" sz="1200" dirty="0" smtClean="0"/>
              <a:t> </a:t>
            </a:r>
            <a:r>
              <a:rPr lang="da-DK" sz="1200" dirty="0" err="1" smtClean="0"/>
              <a:t>jækjfæl</a:t>
            </a:r>
            <a:r>
              <a:rPr lang="da-DK" sz="1200" dirty="0" smtClean="0"/>
              <a:t> </a:t>
            </a:r>
            <a:r>
              <a:rPr lang="da-DK" sz="1200" dirty="0" err="1" smtClean="0"/>
              <a:t>jfaæl</a:t>
            </a:r>
            <a:endParaRPr lang="da-DK" sz="1200" dirty="0" smtClean="0"/>
          </a:p>
          <a:p>
            <a:endParaRPr lang="da-DK" sz="1200" dirty="0" smtClean="0"/>
          </a:p>
          <a:p>
            <a:r>
              <a:rPr lang="en-US" sz="1200" dirty="0" smtClean="0"/>
              <a:t>Can be up to three lines</a:t>
            </a:r>
          </a:p>
        </p:txBody>
      </p:sp>
      <p:grpSp>
        <p:nvGrpSpPr>
          <p:cNvPr id="30" name="Gruppe 29"/>
          <p:cNvGrpSpPr/>
          <p:nvPr/>
        </p:nvGrpSpPr>
        <p:grpSpPr>
          <a:xfrm>
            <a:off x="2699792" y="4941168"/>
            <a:ext cx="2478155" cy="1584176"/>
            <a:chOff x="1393523" y="3400019"/>
            <a:chExt cx="3924144" cy="2508532"/>
          </a:xfrm>
        </p:grpSpPr>
        <p:sp>
          <p:nvSpPr>
            <p:cNvPr id="31" name="Kombinationstegning 30"/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32" name="Lige forbindelse 31"/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Lige forbindelse 36"/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uppe 64"/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44" name="Kombinationstegning 43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5" name="Lige forbindelse 44"/>
              <p:cNvCxnSpPr>
                <a:stCxn id="4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Lige forbindelse 45"/>
              <p:cNvCxnSpPr>
                <a:stCxn id="4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Ellipse 38"/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40" name="Gruppe 66"/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41" name="Kombinationstegning 40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2" name="Lige forbindelse 41"/>
              <p:cNvCxnSpPr>
                <a:stCxn id="4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Lige forbindelse 42"/>
              <p:cNvCxnSpPr>
                <a:stCxn id="4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Rektangel 46"/>
          <p:cNvSpPr/>
          <p:nvPr/>
        </p:nvSpPr>
        <p:spPr bwMode="auto">
          <a:xfrm>
            <a:off x="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en-US" sz="1200" b="1" dirty="0" smtClean="0"/>
              <a:t>[ Document name ] &gt; [ Current section from the contents ]</a:t>
            </a:r>
            <a:endParaRPr lang="da-DK" sz="1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Flowchart</a:t>
            </a:r>
            <a:r>
              <a:rPr lang="da-DK" dirty="0" smtClean="0"/>
              <a:t> ikoner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100</a:t>
            </a:fld>
            <a:endParaRPr lang="da-DK" noProof="0"/>
          </a:p>
        </p:txBody>
      </p:sp>
      <p:grpSp>
        <p:nvGrpSpPr>
          <p:cNvPr id="11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Udfyldt blanket 46"/>
          <p:cNvSpPr/>
          <p:nvPr/>
        </p:nvSpPr>
        <p:spPr bwMode="auto">
          <a:xfrm>
            <a:off x="4129256" y="2794064"/>
            <a:ext cx="946800" cy="370948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Document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48" name="Multidokument 47"/>
          <p:cNvSpPr/>
          <p:nvPr/>
        </p:nvSpPr>
        <p:spPr bwMode="auto">
          <a:xfrm>
            <a:off x="1766605" y="2276872"/>
            <a:ext cx="963051" cy="517191"/>
          </a:xfrm>
          <a:prstGeom prst="flowChartMulti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Documents ]</a:t>
            </a:r>
          </a:p>
        </p:txBody>
      </p:sp>
      <p:sp>
        <p:nvSpPr>
          <p:cNvPr id="49" name="Alternativ proces 48"/>
          <p:cNvSpPr/>
          <p:nvPr/>
        </p:nvSpPr>
        <p:spPr bwMode="auto">
          <a:xfrm>
            <a:off x="2943597" y="1780661"/>
            <a:ext cx="946581" cy="365325"/>
          </a:xfrm>
          <a:prstGeom prst="flowChartAlternate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54000" rIns="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800" dirty="0" smtClean="0">
                <a:latin typeface="Verdana" pitchFamily="34" charset="0"/>
              </a:rPr>
              <a:t>[ Start / Stop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Proces 49"/>
          <p:cNvSpPr/>
          <p:nvPr/>
        </p:nvSpPr>
        <p:spPr bwMode="auto">
          <a:xfrm>
            <a:off x="2943378" y="2276872"/>
            <a:ext cx="946800" cy="378627"/>
          </a:xfrm>
          <a:prstGeom prst="flowChart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0" rIns="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800" dirty="0" smtClean="0">
                <a:latin typeface="Verdana" pitchFamily="34" charset="0"/>
              </a:rPr>
              <a:t>[ Process / Action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51" name="Gruppe 50"/>
          <p:cNvGrpSpPr/>
          <p:nvPr/>
        </p:nvGrpSpPr>
        <p:grpSpPr>
          <a:xfrm>
            <a:off x="2126645" y="3356992"/>
            <a:ext cx="762215" cy="710735"/>
            <a:chOff x="5565538" y="3493492"/>
            <a:chExt cx="762215" cy="710735"/>
          </a:xfrm>
        </p:grpSpPr>
        <p:cxnSp>
          <p:nvCxnSpPr>
            <p:cNvPr id="52" name="Buet forbindelse 37"/>
            <p:cNvCxnSpPr/>
            <p:nvPr/>
          </p:nvCxnSpPr>
          <p:spPr bwMode="auto">
            <a:xfrm rot="10800000">
              <a:off x="5565538" y="3493492"/>
              <a:ext cx="762215" cy="710735"/>
            </a:xfrm>
            <a:prstGeom prst="curvedConnector2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53" name="Tekstfelt 38"/>
            <p:cNvSpPr txBox="1"/>
            <p:nvPr/>
          </p:nvSpPr>
          <p:spPr>
            <a:xfrm>
              <a:off x="5604754" y="3900904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800" dirty="0" smtClean="0"/>
                <a:t>[ Text ]</a:t>
              </a:r>
            </a:p>
          </p:txBody>
        </p:sp>
      </p:grpSp>
      <p:sp>
        <p:nvSpPr>
          <p:cNvPr id="54" name="Beslutning 53"/>
          <p:cNvSpPr/>
          <p:nvPr/>
        </p:nvSpPr>
        <p:spPr bwMode="auto">
          <a:xfrm>
            <a:off x="3030017" y="3212976"/>
            <a:ext cx="824820" cy="648072"/>
          </a:xfrm>
          <a:prstGeom prst="flowChartDecision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800" dirty="0" smtClean="0"/>
              <a:t>[ Decision ]</a:t>
            </a:r>
          </a:p>
        </p:txBody>
      </p:sp>
      <p:grpSp>
        <p:nvGrpSpPr>
          <p:cNvPr id="55" name="Gruppe 54"/>
          <p:cNvGrpSpPr/>
          <p:nvPr/>
        </p:nvGrpSpPr>
        <p:grpSpPr>
          <a:xfrm>
            <a:off x="1406565" y="4365104"/>
            <a:ext cx="1584176" cy="648072"/>
            <a:chOff x="2123728" y="5157192"/>
            <a:chExt cx="1584176" cy="648072"/>
          </a:xfrm>
        </p:grpSpPr>
        <p:cxnSp>
          <p:nvCxnSpPr>
            <p:cNvPr id="56" name="Lige pilforbindelse 55"/>
            <p:cNvCxnSpPr/>
            <p:nvPr/>
          </p:nvCxnSpPr>
          <p:spPr bwMode="auto">
            <a:xfrm>
              <a:off x="2123728" y="5157192"/>
              <a:ext cx="1584176" cy="648072"/>
            </a:xfrm>
            <a:prstGeom prst="straightConnector1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57" name="Tekstfelt 38"/>
            <p:cNvSpPr txBox="1"/>
            <p:nvPr/>
          </p:nvSpPr>
          <p:spPr>
            <a:xfrm>
              <a:off x="2699792" y="5373216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800" dirty="0" smtClean="0"/>
                <a:t>[ Text ]</a:t>
              </a:r>
            </a:p>
          </p:txBody>
        </p:sp>
      </p:grpSp>
      <p:cxnSp>
        <p:nvCxnSpPr>
          <p:cNvPr id="64" name="Buet forbindelse 34"/>
          <p:cNvCxnSpPr/>
          <p:nvPr/>
        </p:nvCxnSpPr>
        <p:spPr bwMode="auto">
          <a:xfrm flipH="1" flipV="1">
            <a:off x="3923928" y="3861048"/>
            <a:ext cx="1659170" cy="2335887"/>
          </a:xfrm>
          <a:prstGeom prst="curvedConnector4">
            <a:avLst>
              <a:gd name="adj1" fmla="val -13778"/>
              <a:gd name="adj2" fmla="val 10978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pic>
        <p:nvPicPr>
          <p:cNvPr id="65" name="Billede 64"/>
          <p:cNvPicPr>
            <a:picLocks noChangeAspect="1"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4509120"/>
            <a:ext cx="363432" cy="517191"/>
          </a:xfrm>
          <a:prstGeom prst="rect">
            <a:avLst/>
          </a:prstGeom>
        </p:spPr>
      </p:pic>
      <p:grpSp>
        <p:nvGrpSpPr>
          <p:cNvPr id="68" name="Gruppe 67"/>
          <p:cNvGrpSpPr/>
          <p:nvPr/>
        </p:nvGrpSpPr>
        <p:grpSpPr>
          <a:xfrm>
            <a:off x="1403648" y="5373216"/>
            <a:ext cx="946800" cy="378627"/>
            <a:chOff x="1403648" y="5373216"/>
            <a:chExt cx="946800" cy="378627"/>
          </a:xfrm>
        </p:grpSpPr>
        <p:sp>
          <p:nvSpPr>
            <p:cNvPr id="66" name="Proces 65"/>
            <p:cNvSpPr/>
            <p:nvPr/>
          </p:nvSpPr>
          <p:spPr bwMode="auto">
            <a:xfrm>
              <a:off x="1403648" y="5373216"/>
              <a:ext cx="946800" cy="378627"/>
            </a:xfrm>
            <a:prstGeom prst="flowChartProcess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800" dirty="0" smtClean="0">
                  <a:latin typeface="Verdana" pitchFamily="34" charset="0"/>
                </a:rPr>
                <a:t>Text</a:t>
              </a:r>
              <a:endPara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7" name="Afrundet rektangel 66"/>
            <p:cNvSpPr/>
            <p:nvPr/>
          </p:nvSpPr>
          <p:spPr bwMode="auto">
            <a:xfrm>
              <a:off x="1860988" y="5668819"/>
              <a:ext cx="489460" cy="8170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54000" rIns="36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600" dirty="0" smtClean="0">
                  <a:latin typeface="Verdana" pitchFamily="34" charset="0"/>
                </a:rPr>
                <a:t>Text</a:t>
              </a:r>
              <a:endParaRPr kumimoji="0" lang="da-DK" sz="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651272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4830418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4572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855002" y="1270745"/>
          <a:ext cx="7625975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05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032168" y="1747996"/>
          <a:ext cx="6808812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958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3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760086" y="2511293"/>
            <a:ext cx="7732643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760086" y="4101905"/>
            <a:ext cx="7732643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One-page templates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2969925"/>
            <a:ext cx="6881813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2927062"/>
            <a:ext cx="7624293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23161" y="4406938"/>
            <a:ext cx="109418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3909257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4687132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3909257"/>
            <a:ext cx="3728801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3866395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4644270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3" y="3860414"/>
            <a:ext cx="378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23972" y="5680932"/>
            <a:ext cx="69256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93" y="5450999"/>
            <a:ext cx="37371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19" y="5450999"/>
            <a:ext cx="3727612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421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2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7046" y="1793626"/>
            <a:ext cx="1286418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1123340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1174887"/>
            <a:ext cx="373832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4" y="1126398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1177945"/>
            <a:ext cx="3332559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112" y="3163157"/>
            <a:ext cx="633141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541251" y="1388468"/>
          <a:ext cx="805506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5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566737" y="5967413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566738" y="1681163"/>
            <a:ext cx="8017535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566738" y="3822700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3971925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207669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8"/>
            </p:custDataLst>
          </p:nvPr>
        </p:nvCxnSpPr>
        <p:spPr bwMode="auto">
          <a:xfrm>
            <a:off x="4164806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29"/>
            </p:custDataLst>
          </p:nvPr>
        </p:nvCxnSpPr>
        <p:spPr bwMode="auto">
          <a:xfrm>
            <a:off x="3907631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043363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15"/>
            </p:custDataLst>
          </p:nvPr>
        </p:nvCxnSpPr>
        <p:spPr bwMode="auto">
          <a:xfrm>
            <a:off x="3871913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371475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3864769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30"/>
            </p:custDataLst>
          </p:nvPr>
        </p:nvCxnSpPr>
        <p:spPr bwMode="auto">
          <a:xfrm>
            <a:off x="3729038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3821906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6"/>
            </p:custDataLst>
          </p:nvPr>
        </p:nvCxnSpPr>
        <p:spPr bwMode="auto">
          <a:xfrm>
            <a:off x="4064794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39"/>
            </p:custDataLst>
          </p:nvPr>
        </p:nvCxnSpPr>
        <p:spPr bwMode="auto">
          <a:xfrm>
            <a:off x="38862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3864769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3864769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3837623" y="2970002"/>
            <a:ext cx="3428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1981200" y="1560510"/>
          <a:ext cx="2431202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6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40"/>
            </p:custDataLst>
          </p:nvPr>
        </p:nvCxnSpPr>
        <p:spPr bwMode="auto">
          <a:xfrm>
            <a:off x="4185575" y="5511800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3889168" y="3368675"/>
            <a:ext cx="60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27"/>
            </p:custDataLst>
          </p:nvPr>
        </p:nvCxnSpPr>
        <p:spPr bwMode="auto">
          <a:xfrm>
            <a:off x="3867971" y="3063875"/>
            <a:ext cx="372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3774399" y="2454275"/>
            <a:ext cx="107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3721465" y="2149475"/>
            <a:ext cx="43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32"/>
            </p:custDataLst>
          </p:nvPr>
        </p:nvCxnSpPr>
        <p:spPr bwMode="auto">
          <a:xfrm>
            <a:off x="3842675" y="2759075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3874997" y="42926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4053590" y="49022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41"/>
            </p:custDataLst>
          </p:nvPr>
        </p:nvCxnSpPr>
        <p:spPr bwMode="auto">
          <a:xfrm>
            <a:off x="4113668" y="5207000"/>
            <a:ext cx="11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3847013" y="3673475"/>
            <a:ext cx="391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551124" y="4193437"/>
            <a:ext cx="461033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4"/>
            </p:custDataLst>
          </p:nvPr>
        </p:nvSpPr>
        <p:spPr bwMode="auto">
          <a:xfrm>
            <a:off x="1194977" y="3892550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12"/>
            </p:custDataLst>
          </p:nvPr>
        </p:nvSpPr>
        <p:spPr bwMode="auto">
          <a:xfrm>
            <a:off x="1609905" y="3574312"/>
            <a:ext cx="402251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004800" y="5421313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120058" y="4811713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18"/>
            </p:custDataLst>
          </p:nvPr>
        </p:nvSpPr>
        <p:spPr bwMode="auto">
          <a:xfrm>
            <a:off x="1004800" y="3278188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42"/>
            </p:custDataLst>
          </p:nvPr>
        </p:nvSpPr>
        <p:spPr bwMode="auto">
          <a:xfrm>
            <a:off x="1493495" y="2964712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6"/>
            </p:custDataLst>
          </p:nvPr>
        </p:nvSpPr>
        <p:spPr bwMode="auto">
          <a:xfrm>
            <a:off x="1405898" y="5717437"/>
            <a:ext cx="606258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591023" y="6030913"/>
            <a:ext cx="142113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25"/>
            </p:custDataLst>
          </p:nvPr>
        </p:nvSpPr>
        <p:spPr bwMode="auto">
          <a:xfrm>
            <a:off x="975986" y="4506913"/>
            <a:ext cx="103617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19"/>
            </p:custDataLst>
          </p:nvPr>
        </p:nvSpPr>
        <p:spPr bwMode="auto">
          <a:xfrm>
            <a:off x="1493495" y="5107837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43"/>
            </p:custDataLst>
          </p:nvPr>
        </p:nvSpPr>
        <p:spPr bwMode="auto">
          <a:xfrm>
            <a:off x="707434" y="2058988"/>
            <a:ext cx="130472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4"/>
            </p:custDataLst>
          </p:nvPr>
        </p:nvSpPr>
        <p:spPr bwMode="auto">
          <a:xfrm>
            <a:off x="1122362" y="2363788"/>
            <a:ext cx="88979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20"/>
            </p:custDataLst>
          </p:nvPr>
        </p:nvSpPr>
        <p:spPr bwMode="auto">
          <a:xfrm>
            <a:off x="1194977" y="1754188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13"/>
            </p:custDataLst>
          </p:nvPr>
        </p:nvSpPr>
        <p:spPr bwMode="auto">
          <a:xfrm>
            <a:off x="1120058" y="2668588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566737" y="19907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566737" y="22955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566737" y="26019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566737" y="29067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566737" y="3213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566737" y="35194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566737" y="3824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566737" y="4130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566737" y="4435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566737" y="168433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351986" y="1312863"/>
            <a:ext cx="1718164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139316" y="1312863"/>
            <a:ext cx="240963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566737" y="4737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566737" y="50419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566737" y="5348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566737" y="5654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566737" y="5959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566737" y="626586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4791786" y="1312863"/>
            <a:ext cx="3780714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6YJfpLh5ki8IT9xsC0H7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QfaKUjIUSyIqd3YBCw4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8rpjC0Ev0G36PMhBo0yt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rLtvXuOeUiWuAAACaaTmA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P4IVoytkubOBMzQTnEH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1e1Ej2Knka0OMI4G38R2A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hUaKKPIB065ByzKdqXxV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C7XTA9tfEimlmTBqDEFh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WV70gWiSkeJ.aQWYwQKZ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gbjC2ohUu44avzisQnN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v_PvAYGEawUBZRS0nv0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nrkn7MKk2uaSvlqxEU.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xkBif7D40ampc3z65fy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Q0AA_7vn0mHL51phxcV1g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ag0lokkkihjKC6cwcAg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kLWO.hLkGTX8RBk0RRH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wldAmWwrUu2hU.4nQ1fC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7yLWNzq0ke3xNOD67pwK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KgV5qAa0aOp_1q8_Pd8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oK5YuxfUSGHLGZLD3kx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UfnOPBk80.jXxNNoECY9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WnS82pj50etsRnj1Ss5dw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gtcUWdpqE.JFATtM2Xy9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ELf88dPMkqZb.LSfyWVu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whdzwVuH0ar0NxHRpLQW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3GT9hxVk6lFfm8PW1ko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dEu7pULGEyWN8BQS7GAW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Bw778_Sk2Yk5OSKOBwE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KBF8EhtDUSmROnT5oVDu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1oXZeUwUKYbMiE2LiTJ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heme/theme1.xml><?xml version="1.0" encoding="utf-8"?>
<a:theme xmlns:a="http://schemas.openxmlformats.org/drawingml/2006/main" name="1_Default Theme">
  <a:themeElements>
    <a:clrScheme name="07 Blå">
      <a:dk1>
        <a:srgbClr val="000000"/>
      </a:dk1>
      <a:lt1>
        <a:srgbClr val="FFFFFF"/>
      </a:lt1>
      <a:dk2>
        <a:srgbClr val="266BAF"/>
      </a:dk2>
      <a:lt2>
        <a:srgbClr val="A8C4DF"/>
      </a:lt2>
      <a:accent1>
        <a:srgbClr val="90979B"/>
      </a:accent1>
      <a:accent2>
        <a:srgbClr val="66ADD3"/>
      </a:accent2>
      <a:accent3>
        <a:srgbClr val="C83A3A"/>
      </a:accent3>
      <a:accent4>
        <a:srgbClr val="FBCF3E"/>
      </a:accent4>
      <a:accent5>
        <a:srgbClr val="7FA745"/>
      </a:accent5>
      <a:accent6>
        <a:srgbClr val="A25790"/>
      </a:accent6>
      <a:hlink>
        <a:srgbClr val="266BAF"/>
      </a:hlink>
      <a:folHlink>
        <a:srgbClr val="6F6093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635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72000" tIns="54000" rIns="72000" bIns="54000" numCol="1" rtlCol="0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9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Verdana" pitchFamily="34" charset="0"/>
          </a:defRPr>
        </a:defPPr>
      </a:lstStyle>
    </a:spDef>
    <a:lnDef>
      <a:spPr bwMode="auto">
        <a:solidFill>
          <a:schemeClr val="accent2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>
    <a:extraClrScheme>
      <a:clrScheme name="TDC Erhverv Green 1">
        <a:dk1>
          <a:srgbClr val="000000"/>
        </a:dk1>
        <a:lt1>
          <a:srgbClr val="FFFFFF"/>
        </a:lt1>
        <a:dk2>
          <a:srgbClr val="6F6093"/>
        </a:dk2>
        <a:lt2>
          <a:srgbClr val="7FA745"/>
        </a:lt2>
        <a:accent1>
          <a:srgbClr val="90979B"/>
        </a:accent1>
        <a:accent2>
          <a:srgbClr val="66ADD3"/>
        </a:accent2>
        <a:accent3>
          <a:srgbClr val="FFFFFF"/>
        </a:accent3>
        <a:accent4>
          <a:srgbClr val="000000"/>
        </a:accent4>
        <a:accent5>
          <a:srgbClr val="C6C9CB"/>
        </a:accent5>
        <a:accent6>
          <a:srgbClr val="5C9CBF"/>
        </a:accent6>
        <a:hlink>
          <a:srgbClr val="C83A3A"/>
        </a:hlink>
        <a:folHlink>
          <a:srgbClr val="FBCF3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</TotalTime>
  <Words>13074</Words>
  <Application>Microsoft Office PowerPoint</Application>
  <PresentationFormat>Skærmshow (4:3)</PresentationFormat>
  <Paragraphs>3465</Paragraphs>
  <Slides>100</Slides>
  <Notes>12</Notes>
  <HiddenSlides>0</HiddenSlides>
  <MMClips>0</MMClips>
  <ScaleCrop>false</ScaleCrop>
  <HeadingPairs>
    <vt:vector size="8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Integrerede OLE-servere</vt:lpstr>
      </vt:variant>
      <vt:variant>
        <vt:i4>2</vt:i4>
      </vt:variant>
      <vt:variant>
        <vt:lpstr>Slidetitler</vt:lpstr>
      </vt:variant>
      <vt:variant>
        <vt:i4>100</vt:i4>
      </vt:variant>
    </vt:vector>
  </HeadingPairs>
  <TitlesOfParts>
    <vt:vector size="107" baseType="lpstr">
      <vt:lpstr>Arial</vt:lpstr>
      <vt:lpstr>Calibri</vt:lpstr>
      <vt:lpstr>Verdana</vt:lpstr>
      <vt:lpstr>Wingdings</vt:lpstr>
      <vt:lpstr>1_Default Theme</vt:lpstr>
      <vt:lpstr>think-cell Slide</vt:lpstr>
      <vt:lpstr>Diagram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[ KPI definition – skriv navn som overskrift ]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Ændringslog til dokumentet</vt:lpstr>
      <vt:lpstr>[ Agendapunkt – skriv navn som overskrift ]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Tre kasser med pile mod én grå kasse</vt:lpstr>
      <vt:lpstr>To vertikale kasser</vt:lpstr>
      <vt:lpstr>En kasse</vt:lpstr>
      <vt:lpstr>Markeringer, stempler m.m.</vt:lpstr>
      <vt:lpstr>Markeringer</vt:lpstr>
      <vt:lpstr>Stempler og lignende</vt:lpstr>
      <vt:lpstr>Flowchart ikoner</vt:lpstr>
    </vt:vector>
  </TitlesOfParts>
  <Company>TDC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Hvide kasser</dc:title>
  <dc:creator>Dann Bleeker Pedersen</dc:creator>
  <cp:lastModifiedBy>Dann Bleeker Pedersen</cp:lastModifiedBy>
  <cp:revision>126</cp:revision>
  <dcterms:created xsi:type="dcterms:W3CDTF">2013-05-22T12:19:33Z</dcterms:created>
  <dcterms:modified xsi:type="dcterms:W3CDTF">2014-06-01T20:11:40Z</dcterms:modified>
</cp:coreProperties>
</file>